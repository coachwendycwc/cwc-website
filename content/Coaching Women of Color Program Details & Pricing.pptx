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Roboto"/>
      <p:regular r:id="rId21"/>
      <p:bold r:id="rId22"/>
      <p:italic r:id="rId23"/>
      <p:boldItalic r:id="rId24"/>
    </p:embeddedFont>
    <p:embeddedFont>
      <p:font typeface="Montserra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14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14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1f54cdc7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1f54cdc7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c232ab56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c232ab56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eaaaa36f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eaaaa36f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3 - 1 hour call </a:t>
            </a:r>
            <a:endParaRPr/>
          </a:p>
          <a:p>
            <a:pPr indent="0" lvl="0" marL="0" rtl="0" algn="l">
              <a:spcBef>
                <a:spcPts val="0"/>
              </a:spcBef>
              <a:spcAft>
                <a:spcPts val="0"/>
              </a:spcAft>
              <a:buNone/>
            </a:pPr>
            <a:r>
              <a:rPr lang="en"/>
              <a:t>Aha’s, new awareness, breakthroughs, unstuck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Whats App Texting with 24 hour response time  </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In the moment support/brainstorm</a:t>
            </a:r>
            <a:endParaRPr/>
          </a:p>
          <a:p>
            <a:pPr indent="0" lvl="0" marL="0" rtl="0" algn="l">
              <a:spcBef>
                <a:spcPts val="0"/>
              </a:spcBef>
              <a:spcAft>
                <a:spcPts val="0"/>
              </a:spcAft>
              <a:buNone/>
            </a:pPr>
            <a:r>
              <a:rPr lang="en"/>
              <a:t>Negotiation tips </a:t>
            </a:r>
            <a:endParaRPr/>
          </a:p>
          <a:p>
            <a:pPr indent="0" lvl="0" marL="0" rtl="0" algn="l">
              <a:spcBef>
                <a:spcPts val="0"/>
              </a:spcBef>
              <a:spcAft>
                <a:spcPts val="0"/>
              </a:spcAft>
              <a:buNone/>
            </a:pPr>
            <a:r>
              <a:rPr lang="en"/>
              <a:t>Persuasive language to support you during a moment of indecisiveness or lack of clarity buy in on decision-making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Talking Points to support or guide an impending conversation or negotiation </a:t>
            </a:r>
            <a:endParaRPr/>
          </a:p>
          <a:p>
            <a:pPr indent="-298450" lvl="0" marL="457200" rtl="0" algn="l">
              <a:spcBef>
                <a:spcPts val="0"/>
              </a:spcBef>
              <a:spcAft>
                <a:spcPts val="0"/>
              </a:spcAft>
              <a:buSzPts val="1100"/>
              <a:buChar char="●"/>
            </a:pPr>
            <a:r>
              <a:rPr lang="en"/>
              <a:t>Action Plan Template</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en"/>
              <a:t>Additional templates and resources  </a:t>
            </a:r>
            <a:endParaRPr/>
          </a:p>
          <a:p>
            <a:pPr indent="0" lvl="0" marL="0" rtl="0" algn="l">
              <a:spcBef>
                <a:spcPts val="0"/>
              </a:spcBef>
              <a:spcAft>
                <a:spcPts val="0"/>
              </a:spcAft>
              <a:buNone/>
            </a:pPr>
            <a:r>
              <a:rPr lang="en"/>
              <a:t>Action Plan will provide you with 6 month clarity on next steps in your goals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eaaaa36f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eaaaa36f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rPr>
              <a:t>At the close of our six months, we revisit your initial assessment to </a:t>
            </a:r>
            <a:r>
              <a:rPr b="1" lang="en" sz="1000">
                <a:solidFill>
                  <a:schemeClr val="dk1"/>
                </a:solidFill>
              </a:rPr>
              <a:t>measure your progress and celebrate your transformation</a:t>
            </a:r>
            <a:r>
              <a:rPr lang="en" sz="1000">
                <a:solidFill>
                  <a:schemeClr val="dk1"/>
                </a:solidFill>
              </a:rPr>
              <a:t>, giving you a tangible record of the growth you’ve achieved.This is more than coaching.</a:t>
            </a:r>
            <a:br>
              <a:rPr lang="en" sz="1000">
                <a:solidFill>
                  <a:schemeClr val="dk1"/>
                </a:solidFill>
              </a:rPr>
            </a:br>
            <a:r>
              <a:rPr lang="en" sz="1000">
                <a:solidFill>
                  <a:schemeClr val="dk1"/>
                </a:solidFill>
              </a:rPr>
              <a:t> It’s a proven, structured investment in your growth, your leadership, and your future success.</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c232ab56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c232ab56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20dfa284c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20dfa284c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c232ab5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c232ab5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c232ab56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c232ab56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c232ab56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c232ab56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fb6cc15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fb6cc15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6" name="Google Shape;56;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7" name="Google Shape;57;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8" name="Google Shape;58;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9" name="Google Shape;59;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wendy@coachingwomenofcolor.com" TargetMode="External"/><Relationship Id="rId4"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hyperlink" Target="https://www.linkedin.com/in/wendyperdomoleadershipcoach/"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3.jp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ctrTitle"/>
          </p:nvPr>
        </p:nvSpPr>
        <p:spPr>
          <a:xfrm>
            <a:off x="234950" y="877075"/>
            <a:ext cx="5842500" cy="861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Montserrat"/>
                <a:ea typeface="Montserrat"/>
                <a:cs typeface="Montserrat"/>
                <a:sym typeface="Montserrat"/>
              </a:rPr>
              <a:t>CWC </a:t>
            </a:r>
            <a:r>
              <a:rPr lang="en">
                <a:latin typeface="Montserrat"/>
                <a:ea typeface="Montserrat"/>
                <a:cs typeface="Montserrat"/>
                <a:sym typeface="Montserrat"/>
              </a:rPr>
              <a:t>Coaching Rates </a:t>
            </a:r>
            <a:endParaRPr>
              <a:latin typeface="Montserrat"/>
              <a:ea typeface="Montserrat"/>
              <a:cs typeface="Montserrat"/>
              <a:sym typeface="Montserrat"/>
            </a:endParaRPr>
          </a:p>
        </p:txBody>
      </p:sp>
      <p:sp>
        <p:nvSpPr>
          <p:cNvPr id="65" name="Google Shape;65;p14"/>
          <p:cNvSpPr txBox="1"/>
          <p:nvPr>
            <p:ph idx="1" type="subTitle"/>
          </p:nvPr>
        </p:nvSpPr>
        <p:spPr>
          <a:xfrm>
            <a:off x="234950" y="1710750"/>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Montserrat"/>
                <a:ea typeface="Montserrat"/>
                <a:cs typeface="Montserrat"/>
                <a:sym typeface="Montserrat"/>
              </a:rPr>
              <a:t>Program Details &amp; Pricing </a:t>
            </a:r>
            <a:r>
              <a:rPr b="1" lang="en">
                <a:solidFill>
                  <a:srgbClr val="000000"/>
                </a:solidFill>
                <a:latin typeface="Montserrat"/>
                <a:ea typeface="Montserrat"/>
                <a:cs typeface="Montserrat"/>
                <a:sym typeface="Montserrat"/>
              </a:rPr>
              <a:t> </a:t>
            </a:r>
            <a:endParaRPr b="1">
              <a:solidFill>
                <a:srgbClr val="000000"/>
              </a:solidFill>
              <a:latin typeface="Montserrat"/>
              <a:ea typeface="Montserrat"/>
              <a:cs typeface="Montserrat"/>
              <a:sym typeface="Montserrat"/>
            </a:endParaRPr>
          </a:p>
        </p:txBody>
      </p:sp>
      <p:pic>
        <p:nvPicPr>
          <p:cNvPr id="66" name="Google Shape;66;p14"/>
          <p:cNvPicPr preferRelativeResize="0"/>
          <p:nvPr/>
        </p:nvPicPr>
        <p:blipFill>
          <a:blip r:embed="rId3">
            <a:alphaModFix/>
          </a:blip>
          <a:stretch>
            <a:fillRect/>
          </a:stretch>
        </p:blipFill>
        <p:spPr>
          <a:xfrm>
            <a:off x="7059300" y="130275"/>
            <a:ext cx="1895700" cy="1607802"/>
          </a:xfrm>
          <a:prstGeom prst="rect">
            <a:avLst/>
          </a:prstGeom>
          <a:noFill/>
          <a:ln>
            <a:noFill/>
          </a:ln>
        </p:spPr>
      </p:pic>
      <p:sp>
        <p:nvSpPr>
          <p:cNvPr id="67" name="Google Shape;67;p14"/>
          <p:cNvSpPr txBox="1"/>
          <p:nvPr/>
        </p:nvSpPr>
        <p:spPr>
          <a:xfrm>
            <a:off x="318600" y="3253500"/>
            <a:ext cx="733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Source Sans Pro"/>
                <a:ea typeface="Source Sans Pro"/>
                <a:cs typeface="Source Sans Pro"/>
                <a:sym typeface="Source Sans Pro"/>
              </a:rPr>
              <a:t>Executive Leadership and Life Coach, Wendy Perdomo, M.P.A., M.S.Ed </a:t>
            </a:r>
            <a:endParaRPr b="1" sz="1800">
              <a:solidFill>
                <a:schemeClr val="lt1"/>
              </a:solidFill>
              <a:latin typeface="Source Sans Pro"/>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268725" y="4358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650">
                <a:latin typeface="Montserrat"/>
                <a:ea typeface="Montserrat"/>
                <a:cs typeface="Montserrat"/>
                <a:sym typeface="Montserrat"/>
              </a:rPr>
              <a:t>Introduction</a:t>
            </a:r>
            <a:r>
              <a:rPr lang="en">
                <a:latin typeface="Montserrat"/>
                <a:ea typeface="Montserrat"/>
                <a:cs typeface="Montserrat"/>
                <a:sym typeface="Montserrat"/>
              </a:rPr>
              <a:t> </a:t>
            </a:r>
            <a:endParaRPr>
              <a:latin typeface="Montserrat"/>
              <a:ea typeface="Montserrat"/>
              <a:cs typeface="Montserrat"/>
              <a:sym typeface="Montserrat"/>
            </a:endParaRPr>
          </a:p>
        </p:txBody>
      </p:sp>
      <p:sp>
        <p:nvSpPr>
          <p:cNvPr id="73" name="Google Shape;73;p15"/>
          <p:cNvSpPr txBox="1"/>
          <p:nvPr>
            <p:ph idx="1" type="body"/>
          </p:nvPr>
        </p:nvSpPr>
        <p:spPr>
          <a:xfrm>
            <a:off x="268725" y="1265825"/>
            <a:ext cx="8332800" cy="3708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i="1" lang="en" sz="1561">
                <a:solidFill>
                  <a:srgbClr val="000000"/>
                </a:solidFill>
              </a:rPr>
              <a:t>Congratulations on taking such a bold step toward exploring coaching—this is only the beginning! Whether you’re unsure about your next professional or personal move, eager to fast-track your career, a woman of color confronting systemic challenges and underrepresentation in your field, or in need of support to rise to the demands of a new role—know that you are in the right place.</a:t>
            </a:r>
            <a:endParaRPr i="1" sz="1561">
              <a:solidFill>
                <a:srgbClr val="000000"/>
              </a:solidFill>
            </a:endParaRPr>
          </a:p>
          <a:p>
            <a:pPr indent="0" lvl="0" marL="0" rtl="0" algn="l">
              <a:spcBef>
                <a:spcPts val="1200"/>
              </a:spcBef>
              <a:spcAft>
                <a:spcPts val="0"/>
              </a:spcAft>
              <a:buClr>
                <a:schemeClr val="dk2"/>
              </a:buClr>
              <a:buSzPts val="1100"/>
              <a:buFont typeface="Arial"/>
              <a:buNone/>
            </a:pPr>
            <a:r>
              <a:rPr i="1" lang="en" sz="1561">
                <a:solidFill>
                  <a:srgbClr val="000000"/>
                </a:solidFill>
              </a:rPr>
              <a:t>Take a moment to review all that’s included in our one-on-one coaching program and learn more about the powerful results we’ve helped our clients achieve.</a:t>
            </a:r>
            <a:endParaRPr i="1" sz="1561">
              <a:solidFill>
                <a:srgbClr val="000000"/>
              </a:solidFill>
            </a:endParaRPr>
          </a:p>
          <a:p>
            <a:pPr indent="0" lvl="0" marL="0" rtl="0" algn="l">
              <a:lnSpc>
                <a:spcPct val="122857"/>
              </a:lnSpc>
              <a:spcBef>
                <a:spcPts val="1200"/>
              </a:spcBef>
              <a:spcAft>
                <a:spcPts val="0"/>
              </a:spcAft>
              <a:buSzPts val="523"/>
              <a:buNone/>
            </a:pPr>
            <a:r>
              <a:t/>
            </a:r>
            <a:endParaRPr i="1" sz="1561">
              <a:solidFill>
                <a:srgbClr val="131313"/>
              </a:solidFill>
              <a:highlight>
                <a:srgbClr val="FFFFFF"/>
              </a:highlight>
            </a:endParaRPr>
          </a:p>
          <a:p>
            <a:pPr indent="0" lvl="0" marL="0" rtl="0" algn="l">
              <a:lnSpc>
                <a:spcPct val="122857"/>
              </a:lnSpc>
              <a:spcBef>
                <a:spcPts val="0"/>
              </a:spcBef>
              <a:spcAft>
                <a:spcPts val="0"/>
              </a:spcAft>
              <a:buClr>
                <a:schemeClr val="dk2"/>
              </a:buClr>
              <a:buSzPts val="523"/>
              <a:buFont typeface="Arial"/>
              <a:buNone/>
            </a:pPr>
            <a:r>
              <a:rPr i="1" lang="en" sz="1561">
                <a:solidFill>
                  <a:srgbClr val="131313"/>
                </a:solidFill>
                <a:highlight>
                  <a:srgbClr val="FFFFFF"/>
                </a:highlight>
              </a:rPr>
              <a:t>If you have questions, I encourage you to bring them to our upcoming consultation or feel free to</a:t>
            </a:r>
            <a:endParaRPr i="1" sz="1561">
              <a:solidFill>
                <a:srgbClr val="131313"/>
              </a:solidFill>
              <a:highlight>
                <a:srgbClr val="FFFFFF"/>
              </a:highlight>
            </a:endParaRPr>
          </a:p>
          <a:p>
            <a:pPr indent="0" lvl="0" marL="0" rtl="0" algn="l">
              <a:lnSpc>
                <a:spcPct val="122857"/>
              </a:lnSpc>
              <a:spcBef>
                <a:spcPts val="0"/>
              </a:spcBef>
              <a:spcAft>
                <a:spcPts val="0"/>
              </a:spcAft>
              <a:buClr>
                <a:schemeClr val="dk2"/>
              </a:buClr>
              <a:buSzPts val="523"/>
              <a:buFont typeface="Arial"/>
              <a:buNone/>
            </a:pPr>
            <a:r>
              <a:rPr i="1" lang="en" sz="1561">
                <a:solidFill>
                  <a:srgbClr val="131313"/>
                </a:solidFill>
                <a:highlight>
                  <a:srgbClr val="FFFFFF"/>
                </a:highlight>
              </a:rPr>
              <a:t>email me at</a:t>
            </a:r>
            <a:r>
              <a:rPr b="1" i="1" lang="en" sz="1561">
                <a:solidFill>
                  <a:srgbClr val="131313"/>
                </a:solidFill>
                <a:highlight>
                  <a:srgbClr val="FFFFFF"/>
                </a:highlight>
              </a:rPr>
              <a:t> </a:t>
            </a:r>
            <a:r>
              <a:rPr b="1" i="1" lang="en" sz="1561" u="sng">
                <a:solidFill>
                  <a:schemeClr val="hlink"/>
                </a:solidFill>
                <a:highlight>
                  <a:srgbClr val="FFFFFF"/>
                </a:highlight>
                <a:hlinkClick r:id="rId3"/>
              </a:rPr>
              <a:t>wendy@coachingwomenofcolor.com</a:t>
            </a:r>
            <a:endParaRPr b="1" i="1" sz="1561">
              <a:solidFill>
                <a:srgbClr val="131313"/>
              </a:solidFill>
              <a:highlight>
                <a:srgbClr val="FFFFFF"/>
              </a:highlight>
            </a:endParaRPr>
          </a:p>
          <a:p>
            <a:pPr indent="0" lvl="0" marL="0" rtl="0" algn="l">
              <a:lnSpc>
                <a:spcPct val="95000"/>
              </a:lnSpc>
              <a:spcBef>
                <a:spcPts val="0"/>
              </a:spcBef>
              <a:spcAft>
                <a:spcPts val="0"/>
              </a:spcAft>
              <a:buSzPts val="523"/>
              <a:buNone/>
            </a:pPr>
            <a:r>
              <a:t/>
            </a:r>
            <a:endParaRPr i="1" sz="1322">
              <a:solidFill>
                <a:srgbClr val="000000"/>
              </a:solidFill>
            </a:endParaRPr>
          </a:p>
          <a:p>
            <a:pPr indent="0" lvl="0" marL="0" rtl="0" algn="l">
              <a:lnSpc>
                <a:spcPct val="95000"/>
              </a:lnSpc>
              <a:spcBef>
                <a:spcPts val="1200"/>
              </a:spcBef>
              <a:spcAft>
                <a:spcPts val="1200"/>
              </a:spcAft>
              <a:buSzPts val="523"/>
              <a:buNone/>
            </a:pPr>
            <a:r>
              <a:t/>
            </a:r>
            <a:endParaRPr i="1" sz="955">
              <a:solidFill>
                <a:srgbClr val="000000"/>
              </a:solidFill>
            </a:endParaRPr>
          </a:p>
        </p:txBody>
      </p:sp>
      <p:pic>
        <p:nvPicPr>
          <p:cNvPr id="74" name="Google Shape;74;p15"/>
          <p:cNvPicPr preferRelativeResize="0"/>
          <p:nvPr/>
        </p:nvPicPr>
        <p:blipFill>
          <a:blip r:embed="rId4">
            <a:alphaModFix/>
          </a:blip>
          <a:stretch>
            <a:fillRect/>
          </a:stretch>
        </p:blipFill>
        <p:spPr>
          <a:xfrm>
            <a:off x="7538130" y="3930075"/>
            <a:ext cx="1251195" cy="10611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p:nvPr/>
        </p:nvSpPr>
        <p:spPr>
          <a:xfrm>
            <a:off x="-1950" y="-3525"/>
            <a:ext cx="4377900" cy="5143500"/>
          </a:xfrm>
          <a:prstGeom prst="rect">
            <a:avLst/>
          </a:prstGeom>
          <a:solidFill>
            <a:srgbClr val="6962A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pic>
        <p:nvPicPr>
          <p:cNvPr id="80" name="Google Shape;80;p16" title="LinkedIn Profile Image (1).png"/>
          <p:cNvPicPr preferRelativeResize="0"/>
          <p:nvPr/>
        </p:nvPicPr>
        <p:blipFill>
          <a:blip r:embed="rId3">
            <a:alphaModFix/>
          </a:blip>
          <a:stretch>
            <a:fillRect/>
          </a:stretch>
        </p:blipFill>
        <p:spPr>
          <a:xfrm>
            <a:off x="-168750" y="0"/>
            <a:ext cx="4114800" cy="5143500"/>
          </a:xfrm>
          <a:prstGeom prst="rect">
            <a:avLst/>
          </a:prstGeom>
          <a:noFill/>
          <a:ln>
            <a:noFill/>
          </a:ln>
        </p:spPr>
      </p:pic>
      <p:sp>
        <p:nvSpPr>
          <p:cNvPr id="81" name="Google Shape;81;p16"/>
          <p:cNvSpPr txBox="1"/>
          <p:nvPr>
            <p:ph type="title"/>
          </p:nvPr>
        </p:nvSpPr>
        <p:spPr>
          <a:xfrm>
            <a:off x="4532000" y="273850"/>
            <a:ext cx="4377900" cy="1055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About Your Coach</a:t>
            </a:r>
            <a:endParaRPr/>
          </a:p>
        </p:txBody>
      </p:sp>
      <p:sp>
        <p:nvSpPr>
          <p:cNvPr id="82" name="Google Shape;82;p16"/>
          <p:cNvSpPr txBox="1"/>
          <p:nvPr>
            <p:ph idx="1" type="body"/>
          </p:nvPr>
        </p:nvSpPr>
        <p:spPr>
          <a:xfrm>
            <a:off x="4662000" y="1228150"/>
            <a:ext cx="4319100" cy="3915300"/>
          </a:xfrm>
          <a:prstGeom prst="rect">
            <a:avLst/>
          </a:prstGeom>
        </p:spPr>
        <p:txBody>
          <a:bodyPr anchorCtr="0" anchor="t" bIns="34275" lIns="68575" spcFirstLastPara="1" rIns="68575" wrap="square" tIns="34275">
            <a:normAutofit fontScale="47500" lnSpcReduction="20000"/>
          </a:bodyPr>
          <a:lstStyle/>
          <a:p>
            <a:pPr indent="0" lvl="0" marL="0" marR="12700" rtl="0" algn="l">
              <a:lnSpc>
                <a:spcPct val="100000"/>
              </a:lnSpc>
              <a:spcBef>
                <a:spcPts val="0"/>
              </a:spcBef>
              <a:spcAft>
                <a:spcPts val="0"/>
              </a:spcAft>
              <a:buNone/>
            </a:pPr>
            <a:r>
              <a:rPr b="1" lang="en" sz="2500">
                <a:solidFill>
                  <a:srgbClr val="131313"/>
                </a:solidFill>
                <a:latin typeface="Arial"/>
                <a:ea typeface="Arial"/>
                <a:cs typeface="Arial"/>
                <a:sym typeface="Arial"/>
              </a:rPr>
              <a:t>Who Am I?</a:t>
            </a:r>
            <a:endParaRPr b="1" sz="2500">
              <a:solidFill>
                <a:srgbClr val="131313"/>
              </a:solidFill>
              <a:latin typeface="Arial"/>
              <a:ea typeface="Arial"/>
              <a:cs typeface="Arial"/>
              <a:sym typeface="Arial"/>
            </a:endParaRPr>
          </a:p>
          <a:p>
            <a:pPr indent="-304006" lvl="0" marL="457200" marR="127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Executive Leadership &amp; Life Coach </a:t>
            </a:r>
            <a:endParaRPr sz="2500">
              <a:solidFill>
                <a:srgbClr val="131313"/>
              </a:solidFill>
              <a:latin typeface="Arial"/>
              <a:ea typeface="Arial"/>
              <a:cs typeface="Arial"/>
              <a:sym typeface="Arial"/>
            </a:endParaRPr>
          </a:p>
          <a:p>
            <a:pPr indent="-304006" lvl="0" marL="457200" marR="127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Twenty five years of non-profit education reform &amp; leadership experience </a:t>
            </a:r>
            <a:endParaRPr sz="2500">
              <a:solidFill>
                <a:srgbClr val="131313"/>
              </a:solidFill>
              <a:latin typeface="Arial"/>
              <a:ea typeface="Arial"/>
              <a:cs typeface="Arial"/>
              <a:sym typeface="Arial"/>
            </a:endParaRPr>
          </a:p>
          <a:p>
            <a:pPr indent="-304006" lvl="0" marL="457200" marR="127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Non-Profit Executive </a:t>
            </a:r>
            <a:endParaRPr sz="2500">
              <a:solidFill>
                <a:srgbClr val="131313"/>
              </a:solidFill>
              <a:latin typeface="Arial"/>
              <a:ea typeface="Arial"/>
              <a:cs typeface="Arial"/>
              <a:sym typeface="Arial"/>
            </a:endParaRPr>
          </a:p>
          <a:p>
            <a:pPr indent="-304006" lvl="0" marL="457200" marR="127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Certified Coach &amp; Owner of Coaching Women of Color</a:t>
            </a:r>
            <a:endParaRPr sz="2500">
              <a:solidFill>
                <a:srgbClr val="131313"/>
              </a:solidFill>
              <a:latin typeface="Arial"/>
              <a:ea typeface="Arial"/>
              <a:cs typeface="Arial"/>
              <a:sym typeface="Arial"/>
            </a:endParaRPr>
          </a:p>
          <a:p>
            <a:pPr indent="-304006" lvl="0" marL="457200" marR="127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International Speaker </a:t>
            </a:r>
            <a:endParaRPr sz="2500">
              <a:solidFill>
                <a:srgbClr val="131313"/>
              </a:solidFill>
              <a:latin typeface="Arial"/>
              <a:ea typeface="Arial"/>
              <a:cs typeface="Arial"/>
              <a:sym typeface="Arial"/>
            </a:endParaRPr>
          </a:p>
          <a:p>
            <a:pPr indent="0" lvl="0" marL="0" marR="12700" rtl="0" algn="l">
              <a:lnSpc>
                <a:spcPct val="100000"/>
              </a:lnSpc>
              <a:spcBef>
                <a:spcPts val="0"/>
              </a:spcBef>
              <a:spcAft>
                <a:spcPts val="0"/>
              </a:spcAft>
              <a:buNone/>
            </a:pPr>
            <a:r>
              <a:t/>
            </a:r>
            <a:endParaRPr b="1" sz="2500">
              <a:solidFill>
                <a:srgbClr val="131313"/>
              </a:solidFill>
              <a:latin typeface="Arial"/>
              <a:ea typeface="Arial"/>
              <a:cs typeface="Arial"/>
              <a:sym typeface="Arial"/>
            </a:endParaRPr>
          </a:p>
          <a:p>
            <a:pPr indent="0" lvl="0" marL="0" marR="63500" rtl="0" algn="l">
              <a:lnSpc>
                <a:spcPct val="100000"/>
              </a:lnSpc>
              <a:spcBef>
                <a:spcPts val="0"/>
              </a:spcBef>
              <a:spcAft>
                <a:spcPts val="0"/>
              </a:spcAft>
              <a:buClr>
                <a:schemeClr val="dk2"/>
              </a:buClr>
              <a:buSzPct val="44000"/>
              <a:buFont typeface="Arial"/>
              <a:buNone/>
            </a:pPr>
            <a:r>
              <a:rPr b="1" lang="en" sz="2500">
                <a:solidFill>
                  <a:srgbClr val="131313"/>
                </a:solidFill>
                <a:latin typeface="Arial"/>
                <a:ea typeface="Arial"/>
                <a:cs typeface="Arial"/>
                <a:sym typeface="Arial"/>
              </a:rPr>
              <a:t>Key Areas of Expertise: </a:t>
            </a:r>
            <a:endParaRPr b="1" sz="2500">
              <a:solidFill>
                <a:srgbClr val="131313"/>
              </a:solidFill>
              <a:latin typeface="Arial"/>
              <a:ea typeface="Arial"/>
              <a:cs typeface="Arial"/>
              <a:sym typeface="Arial"/>
            </a:endParaRPr>
          </a:p>
          <a:p>
            <a:pPr indent="0" lvl="0" marL="0" marR="63500" rtl="0" algn="l">
              <a:lnSpc>
                <a:spcPct val="100000"/>
              </a:lnSpc>
              <a:spcBef>
                <a:spcPts val="0"/>
              </a:spcBef>
              <a:spcAft>
                <a:spcPts val="0"/>
              </a:spcAft>
              <a:buClr>
                <a:schemeClr val="dk2"/>
              </a:buClr>
              <a:buSzPct val="44000"/>
              <a:buFont typeface="Arial"/>
              <a:buNone/>
            </a:pPr>
            <a:r>
              <a:t/>
            </a:r>
            <a:endParaRPr b="1"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Professional Learning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Communication Expert- Certified DiSC Facilitator</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Leadership Development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Women of Color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Executive Coaching to Senior Leaders &amp; C-Suite Executives</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Performance Management</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Employee Relations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Positive Intelligence</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Courageous Conversations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Manager Training &amp; Resources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Leadership Training Program Design </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Diversity, Equity, Inclusion</a:t>
            </a:r>
            <a:endParaRPr sz="2500">
              <a:solidFill>
                <a:srgbClr val="131313"/>
              </a:solidFill>
              <a:latin typeface="Arial"/>
              <a:ea typeface="Arial"/>
              <a:cs typeface="Arial"/>
              <a:sym typeface="Arial"/>
            </a:endParaRPr>
          </a:p>
          <a:p>
            <a:pPr indent="-240506" lvl="0" marL="342900" marR="63500" rtl="0" algn="l">
              <a:lnSpc>
                <a:spcPct val="100000"/>
              </a:lnSpc>
              <a:spcBef>
                <a:spcPts val="0"/>
              </a:spcBef>
              <a:spcAft>
                <a:spcPts val="0"/>
              </a:spcAft>
              <a:buClr>
                <a:srgbClr val="131313"/>
              </a:buClr>
              <a:buSzPct val="100000"/>
              <a:buFont typeface="Arial"/>
              <a:buChar char="●"/>
            </a:pPr>
            <a:r>
              <a:rPr lang="en" sz="2500">
                <a:solidFill>
                  <a:srgbClr val="131313"/>
                </a:solidFill>
                <a:latin typeface="Arial"/>
                <a:ea typeface="Arial"/>
                <a:cs typeface="Arial"/>
                <a:sym typeface="Arial"/>
              </a:rPr>
              <a:t>Trauma Informed Advocate </a:t>
            </a:r>
            <a:endParaRPr sz="2500">
              <a:solidFill>
                <a:srgbClr val="131313"/>
              </a:solidFill>
              <a:latin typeface="Arial"/>
              <a:ea typeface="Arial"/>
              <a:cs typeface="Arial"/>
              <a:sym typeface="Arial"/>
            </a:endParaRPr>
          </a:p>
          <a:p>
            <a:pPr indent="0" lvl="0" marL="0" marR="63500" rtl="0" algn="l">
              <a:lnSpc>
                <a:spcPct val="100000"/>
              </a:lnSpc>
              <a:spcBef>
                <a:spcPts val="0"/>
              </a:spcBef>
              <a:spcAft>
                <a:spcPts val="0"/>
              </a:spcAft>
              <a:buClr>
                <a:schemeClr val="dk2"/>
              </a:buClr>
              <a:buSzPct val="122222"/>
              <a:buFont typeface="Arial"/>
              <a:buNone/>
            </a:pPr>
            <a:r>
              <a:t/>
            </a:r>
            <a:endParaRPr sz="900">
              <a:solidFill>
                <a:srgbClr val="131313"/>
              </a:solidFill>
              <a:latin typeface="Arial"/>
              <a:ea typeface="Arial"/>
              <a:cs typeface="Arial"/>
              <a:sym typeface="Arial"/>
            </a:endParaRPr>
          </a:p>
          <a:p>
            <a:pPr indent="0" lvl="0" marL="0" rtl="0" algn="l">
              <a:spcBef>
                <a:spcPts val="800"/>
              </a:spcBef>
              <a:spcAft>
                <a:spcPts val="0"/>
              </a:spcAft>
              <a:buNone/>
            </a:pPr>
            <a:r>
              <a:t/>
            </a:r>
            <a:endParaRPr/>
          </a:p>
        </p:txBody>
      </p:sp>
      <p:sp>
        <p:nvSpPr>
          <p:cNvPr id="83" name="Google Shape;83;p16"/>
          <p:cNvSpPr txBox="1"/>
          <p:nvPr/>
        </p:nvSpPr>
        <p:spPr>
          <a:xfrm>
            <a:off x="1057300" y="4464700"/>
            <a:ext cx="1978800" cy="287400"/>
          </a:xfrm>
          <a:prstGeom prst="rect">
            <a:avLst/>
          </a:prstGeom>
          <a:noFill/>
          <a:ln>
            <a:noFill/>
          </a:ln>
        </p:spPr>
        <p:txBody>
          <a:bodyPr anchorCtr="0" anchor="t" bIns="91425" lIns="91425" spcFirstLastPara="1" rIns="91425" wrap="square" tIns="91425">
            <a:noAutofit/>
          </a:bodyPr>
          <a:lstStyle/>
          <a:p>
            <a:pPr indent="0" lvl="0" marL="12700" marR="12700" rtl="0" algn="ctr">
              <a:lnSpc>
                <a:spcPct val="115000"/>
              </a:lnSpc>
              <a:spcBef>
                <a:spcPts val="0"/>
              </a:spcBef>
              <a:spcAft>
                <a:spcPts val="0"/>
              </a:spcAft>
              <a:buClr>
                <a:schemeClr val="dk2"/>
              </a:buClr>
              <a:buSzPts val="1100"/>
              <a:buFont typeface="Arial"/>
              <a:buNone/>
            </a:pPr>
            <a:r>
              <a:rPr b="1" lang="en" sz="1600" u="sng">
                <a:solidFill>
                  <a:schemeClr val="lt1"/>
                </a:solidFill>
                <a:hlinkClick r:id="rId4">
                  <a:extLst>
                    <a:ext uri="{A12FA001-AC4F-418D-AE19-62706E023703}">
                      <ahyp:hlinkClr val="tx"/>
                    </a:ext>
                  </a:extLst>
                </a:hlinkClick>
              </a:rPr>
              <a:t>Wendy Perdomo</a:t>
            </a:r>
            <a:endParaRPr sz="1800">
              <a:solidFill>
                <a:schemeClr val="lt1"/>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273150"/>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One-on-One Coaching Program Details</a:t>
            </a:r>
            <a:endParaRPr sz="2400"/>
          </a:p>
          <a:p>
            <a:pPr indent="0" lvl="0" marL="0" rtl="0" algn="l">
              <a:spcBef>
                <a:spcPts val="0"/>
              </a:spcBef>
              <a:spcAft>
                <a:spcPts val="0"/>
              </a:spcAft>
              <a:buNone/>
            </a:pPr>
            <a:r>
              <a:t/>
            </a:r>
            <a:endParaRPr sz="2400"/>
          </a:p>
        </p:txBody>
      </p:sp>
      <p:sp>
        <p:nvSpPr>
          <p:cNvPr id="89" name="Google Shape;89;p17"/>
          <p:cNvSpPr txBox="1"/>
          <p:nvPr>
            <p:ph idx="1" type="body"/>
          </p:nvPr>
        </p:nvSpPr>
        <p:spPr>
          <a:xfrm>
            <a:off x="311700" y="842150"/>
            <a:ext cx="8520600" cy="3759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1595">
                <a:solidFill>
                  <a:srgbClr val="000000"/>
                </a:solidFill>
              </a:rPr>
              <a:t>Program includes: </a:t>
            </a:r>
            <a:endParaRPr sz="1595">
              <a:solidFill>
                <a:srgbClr val="000000"/>
              </a:solidFill>
            </a:endParaRPr>
          </a:p>
          <a:p>
            <a:pPr indent="-329882" lvl="0" marL="457200" rtl="0" algn="l">
              <a:lnSpc>
                <a:spcPct val="150000"/>
              </a:lnSpc>
              <a:spcBef>
                <a:spcPts val="1200"/>
              </a:spcBef>
              <a:spcAft>
                <a:spcPts val="0"/>
              </a:spcAft>
              <a:buClr>
                <a:srgbClr val="000000"/>
              </a:buClr>
              <a:buSzPts val="1595"/>
              <a:buChar char="-"/>
            </a:pPr>
            <a:r>
              <a:rPr b="1" lang="en" sz="1595">
                <a:solidFill>
                  <a:srgbClr val="000000"/>
                </a:solidFill>
              </a:rPr>
              <a:t>12 coaching sessions </a:t>
            </a:r>
            <a:r>
              <a:rPr lang="en" sz="1595">
                <a:solidFill>
                  <a:srgbClr val="000000"/>
                </a:solidFill>
              </a:rPr>
              <a:t>that is your dedicated unbiased time to work through your most critical challenges.</a:t>
            </a:r>
            <a:endParaRPr sz="1595">
              <a:solidFill>
                <a:srgbClr val="000000"/>
              </a:solidFill>
            </a:endParaRPr>
          </a:p>
          <a:p>
            <a:pPr indent="-329882" lvl="0" marL="457200" rtl="0" algn="l">
              <a:lnSpc>
                <a:spcPct val="150000"/>
              </a:lnSpc>
              <a:spcBef>
                <a:spcPts val="0"/>
              </a:spcBef>
              <a:spcAft>
                <a:spcPts val="0"/>
              </a:spcAft>
              <a:buClr>
                <a:srgbClr val="000000"/>
              </a:buClr>
              <a:buSzPts val="1595"/>
              <a:buChar char="-"/>
            </a:pPr>
            <a:r>
              <a:rPr b="1" lang="en" sz="1595">
                <a:solidFill>
                  <a:srgbClr val="000000"/>
                </a:solidFill>
              </a:rPr>
              <a:t>Spot coaching </a:t>
            </a:r>
            <a:r>
              <a:rPr lang="en" sz="1595">
                <a:solidFill>
                  <a:srgbClr val="000000"/>
                </a:solidFill>
              </a:rPr>
              <a:t>in between sessions if anything urgent emerges </a:t>
            </a:r>
            <a:endParaRPr sz="1595">
              <a:solidFill>
                <a:srgbClr val="000000"/>
              </a:solidFill>
            </a:endParaRPr>
          </a:p>
          <a:p>
            <a:pPr indent="-329882" lvl="0" marL="457200" rtl="0" algn="l">
              <a:lnSpc>
                <a:spcPct val="150000"/>
              </a:lnSpc>
              <a:spcBef>
                <a:spcPts val="0"/>
              </a:spcBef>
              <a:spcAft>
                <a:spcPts val="0"/>
              </a:spcAft>
              <a:buClr>
                <a:srgbClr val="000000"/>
              </a:buClr>
              <a:buSzPts val="1595"/>
              <a:buChar char="-"/>
            </a:pPr>
            <a:r>
              <a:rPr b="1" lang="en" sz="1595">
                <a:solidFill>
                  <a:srgbClr val="000000"/>
                </a:solidFill>
              </a:rPr>
              <a:t>Unlimited session recording</a:t>
            </a:r>
            <a:r>
              <a:rPr lang="en" sz="1595">
                <a:solidFill>
                  <a:srgbClr val="000000"/>
                </a:solidFill>
              </a:rPr>
              <a:t> for you to revisit  a-ha moments and dive deeper into your leadership insights on your own time.</a:t>
            </a:r>
            <a:endParaRPr sz="1595">
              <a:solidFill>
                <a:srgbClr val="000000"/>
              </a:solidFill>
            </a:endParaRPr>
          </a:p>
          <a:p>
            <a:pPr indent="-329882" lvl="0" marL="457200" rtl="0" algn="l">
              <a:lnSpc>
                <a:spcPct val="150000"/>
              </a:lnSpc>
              <a:spcBef>
                <a:spcPts val="0"/>
              </a:spcBef>
              <a:spcAft>
                <a:spcPts val="0"/>
              </a:spcAft>
              <a:buClr>
                <a:srgbClr val="000000"/>
              </a:buClr>
              <a:buSzPts val="1595"/>
              <a:buChar char="-"/>
            </a:pPr>
            <a:r>
              <a:rPr b="1" lang="en" sz="1595">
                <a:solidFill>
                  <a:srgbClr val="000000"/>
                </a:solidFill>
              </a:rPr>
              <a:t>Unlimited Text or Whatsapp Support</a:t>
            </a:r>
            <a:r>
              <a:rPr lang="en" sz="1595">
                <a:solidFill>
                  <a:srgbClr val="000000"/>
                </a:solidFill>
              </a:rPr>
              <a:t> for those moments when you need support fast.</a:t>
            </a:r>
            <a:endParaRPr sz="1595">
              <a:solidFill>
                <a:srgbClr val="000000"/>
              </a:solidFill>
            </a:endParaRPr>
          </a:p>
          <a:p>
            <a:pPr indent="-323532" lvl="0" marL="457200" rtl="0" algn="l">
              <a:lnSpc>
                <a:spcPct val="150000"/>
              </a:lnSpc>
              <a:spcBef>
                <a:spcPts val="0"/>
              </a:spcBef>
              <a:spcAft>
                <a:spcPts val="0"/>
              </a:spcAft>
              <a:buClr>
                <a:srgbClr val="000000"/>
              </a:buClr>
              <a:buSzPts val="1495"/>
              <a:buChar char="-"/>
            </a:pPr>
            <a:r>
              <a:rPr b="1" lang="en" sz="1595">
                <a:solidFill>
                  <a:srgbClr val="000000"/>
                </a:solidFill>
              </a:rPr>
              <a:t>Actionable Documents </a:t>
            </a:r>
            <a:r>
              <a:rPr lang="en" sz="1595">
                <a:solidFill>
                  <a:srgbClr val="000000"/>
                </a:solidFill>
              </a:rPr>
              <a:t>and templates to take the guesswork out of how to best communicate </a:t>
            </a:r>
            <a:r>
              <a:rPr lang="en" sz="1595">
                <a:solidFill>
                  <a:srgbClr val="000000"/>
                </a:solidFill>
              </a:rPr>
              <a:t>these</a:t>
            </a:r>
            <a:r>
              <a:rPr lang="en" sz="1595">
                <a:solidFill>
                  <a:srgbClr val="000000"/>
                </a:solidFill>
              </a:rPr>
              <a:t> new leadership frameworks in your work and with your team</a:t>
            </a:r>
            <a:r>
              <a:rPr lang="en" sz="1495">
                <a:solidFill>
                  <a:srgbClr val="000000"/>
                </a:solidFill>
              </a:rPr>
              <a:t>. </a:t>
            </a:r>
            <a:endParaRPr sz="1495">
              <a:solidFill>
                <a:srgbClr val="000000"/>
              </a:solidFill>
            </a:endParaRPr>
          </a:p>
          <a:p>
            <a:pPr indent="0" lvl="0" marL="914400" rtl="0" algn="l">
              <a:lnSpc>
                <a:spcPct val="150000"/>
              </a:lnSpc>
              <a:spcBef>
                <a:spcPts val="1200"/>
              </a:spcBef>
              <a:spcAft>
                <a:spcPts val="1200"/>
              </a:spcAft>
              <a:buNone/>
            </a:pPr>
            <a:r>
              <a:t/>
            </a:r>
            <a:endParaRPr sz="1495">
              <a:solidFill>
                <a:srgbClr val="000000"/>
              </a:solidFill>
            </a:endParaRPr>
          </a:p>
        </p:txBody>
      </p:sp>
      <p:pic>
        <p:nvPicPr>
          <p:cNvPr id="90" name="Google Shape;90;p17"/>
          <p:cNvPicPr preferRelativeResize="0"/>
          <p:nvPr/>
        </p:nvPicPr>
        <p:blipFill>
          <a:blip r:embed="rId3">
            <a:alphaModFix/>
          </a:blip>
          <a:stretch>
            <a:fillRect/>
          </a:stretch>
        </p:blipFill>
        <p:spPr>
          <a:xfrm>
            <a:off x="8129325" y="4418975"/>
            <a:ext cx="854277" cy="7245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256050" y="0"/>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00"/>
              <a:t>Your Investment: 6-month minimum commitment </a:t>
            </a:r>
            <a:endParaRPr sz="2400"/>
          </a:p>
        </p:txBody>
      </p:sp>
      <p:sp>
        <p:nvSpPr>
          <p:cNvPr id="96" name="Google Shape;96;p18"/>
          <p:cNvSpPr txBox="1"/>
          <p:nvPr>
            <p:ph idx="1" type="body"/>
          </p:nvPr>
        </p:nvSpPr>
        <p:spPr>
          <a:xfrm>
            <a:off x="202800" y="623400"/>
            <a:ext cx="8733300" cy="4520100"/>
          </a:xfrm>
          <a:prstGeom prst="rect">
            <a:avLst/>
          </a:prstGeom>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None/>
            </a:pPr>
            <a:r>
              <a:rPr b="1" lang="en" sz="6300">
                <a:solidFill>
                  <a:schemeClr val="dk2"/>
                </a:solidFill>
                <a:latin typeface="Arial"/>
                <a:ea typeface="Arial"/>
                <a:cs typeface="Arial"/>
                <a:sym typeface="Arial"/>
              </a:rPr>
              <a:t>Total Investment:</a:t>
            </a:r>
            <a:r>
              <a:rPr lang="en" sz="6300">
                <a:solidFill>
                  <a:schemeClr val="dk2"/>
                </a:solidFill>
                <a:latin typeface="Arial"/>
                <a:ea typeface="Arial"/>
                <a:cs typeface="Arial"/>
                <a:sym typeface="Arial"/>
              </a:rPr>
              <a:t> $9,900</a:t>
            </a:r>
            <a:endParaRPr sz="6300">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b="1" lang="en" sz="6300">
                <a:solidFill>
                  <a:schemeClr val="dk2"/>
                </a:solidFill>
                <a:latin typeface="Arial"/>
                <a:ea typeface="Arial"/>
                <a:cs typeface="Arial"/>
                <a:sym typeface="Arial"/>
              </a:rPr>
              <a:t>Flexible Payment Plan:</a:t>
            </a:r>
            <a:r>
              <a:rPr lang="en" sz="6300">
                <a:solidFill>
                  <a:schemeClr val="dk2"/>
                </a:solidFill>
                <a:latin typeface="Arial"/>
                <a:ea typeface="Arial"/>
                <a:cs typeface="Arial"/>
                <a:sym typeface="Arial"/>
              </a:rPr>
              <a:t> $1,650/month</a:t>
            </a:r>
            <a:endParaRPr b="1" sz="10165">
              <a:solidFill>
                <a:srgbClr val="000000"/>
              </a:solidFill>
            </a:endParaRPr>
          </a:p>
          <a:p>
            <a:pPr indent="0" lvl="0" marL="0" rtl="0" algn="l">
              <a:lnSpc>
                <a:spcPct val="100000"/>
              </a:lnSpc>
              <a:spcBef>
                <a:spcPts val="0"/>
              </a:spcBef>
              <a:spcAft>
                <a:spcPts val="0"/>
              </a:spcAft>
              <a:buNone/>
            </a:pPr>
            <a:r>
              <a:t/>
            </a:r>
            <a:endParaRPr sz="4765">
              <a:solidFill>
                <a:schemeClr val="dk2"/>
              </a:solidFill>
              <a:latin typeface="Arial"/>
              <a:ea typeface="Arial"/>
              <a:cs typeface="Arial"/>
              <a:sym typeface="Arial"/>
            </a:endParaRPr>
          </a:p>
          <a:p>
            <a:pPr indent="0" lvl="0" marL="0" rtl="0" algn="l">
              <a:lnSpc>
                <a:spcPct val="100000"/>
              </a:lnSpc>
              <a:spcBef>
                <a:spcPts val="0"/>
              </a:spcBef>
              <a:spcAft>
                <a:spcPts val="0"/>
              </a:spcAft>
              <a:buNone/>
            </a:pPr>
            <a:r>
              <a:t/>
            </a:r>
            <a:endParaRPr sz="4765">
              <a:solidFill>
                <a:schemeClr val="dk2"/>
              </a:solidFill>
              <a:latin typeface="Arial"/>
              <a:ea typeface="Arial"/>
              <a:cs typeface="Arial"/>
              <a:sym typeface="Arial"/>
            </a:endParaRPr>
          </a:p>
          <a:p>
            <a:pPr indent="0" lvl="0" marL="0" rtl="0" algn="l">
              <a:lnSpc>
                <a:spcPct val="100000"/>
              </a:lnSpc>
              <a:spcBef>
                <a:spcPts val="0"/>
              </a:spcBef>
              <a:spcAft>
                <a:spcPts val="0"/>
              </a:spcAft>
              <a:buNone/>
            </a:pPr>
            <a:r>
              <a:rPr lang="en" sz="4765">
                <a:solidFill>
                  <a:schemeClr val="dk2"/>
                </a:solidFill>
                <a:latin typeface="Arial"/>
                <a:ea typeface="Arial"/>
                <a:cs typeface="Arial"/>
                <a:sym typeface="Arial"/>
              </a:rPr>
              <a:t>We begin with a </a:t>
            </a:r>
            <a:r>
              <a:rPr b="1" lang="en" sz="4765">
                <a:solidFill>
                  <a:schemeClr val="dk2"/>
                </a:solidFill>
                <a:latin typeface="Arial"/>
                <a:ea typeface="Arial"/>
                <a:cs typeface="Arial"/>
                <a:sym typeface="Arial"/>
              </a:rPr>
              <a:t>Kickoff Onboarding Process</a:t>
            </a:r>
            <a:r>
              <a:rPr lang="en" sz="4765">
                <a:solidFill>
                  <a:schemeClr val="dk2"/>
                </a:solidFill>
                <a:latin typeface="Arial"/>
                <a:ea typeface="Arial"/>
                <a:cs typeface="Arial"/>
                <a:sym typeface="Arial"/>
              </a:rPr>
              <a:t> to set the foundation for your success:</a:t>
            </a:r>
            <a:endParaRPr sz="4765">
              <a:solidFill>
                <a:schemeClr val="dk2"/>
              </a:solidFill>
              <a:latin typeface="Arial"/>
              <a:ea typeface="Arial"/>
              <a:cs typeface="Arial"/>
              <a:sym typeface="Arial"/>
            </a:endParaRPr>
          </a:p>
          <a:p>
            <a:pPr indent="-304250" lvl="0" marL="457200" rtl="0" algn="l">
              <a:spcBef>
                <a:spcPts val="1200"/>
              </a:spcBef>
              <a:spcAft>
                <a:spcPts val="0"/>
              </a:spcAft>
              <a:buClr>
                <a:schemeClr val="dk2"/>
              </a:buClr>
              <a:buSzPct val="100000"/>
              <a:buFont typeface="Arial"/>
              <a:buChar char="●"/>
            </a:pPr>
            <a:r>
              <a:rPr b="1" lang="en" sz="4765">
                <a:solidFill>
                  <a:schemeClr val="dk2"/>
                </a:solidFill>
                <a:latin typeface="Arial"/>
                <a:ea typeface="Arial"/>
                <a:cs typeface="Arial"/>
                <a:sym typeface="Arial"/>
              </a:rPr>
              <a:t>Comprehensive Personal Assessment</a:t>
            </a:r>
            <a:r>
              <a:rPr lang="en" sz="4765">
                <a:solidFill>
                  <a:schemeClr val="dk2"/>
                </a:solidFill>
                <a:latin typeface="Arial"/>
                <a:ea typeface="Arial"/>
                <a:cs typeface="Arial"/>
                <a:sym typeface="Arial"/>
              </a:rPr>
              <a:t> to define where you are now, where you want to be, and the exact milestones to get you there.</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Positive Intelligence® and DiSC® Assessments</a:t>
            </a:r>
            <a:r>
              <a:rPr lang="en" sz="4765">
                <a:solidFill>
                  <a:schemeClr val="dk2"/>
                </a:solidFill>
                <a:latin typeface="Arial"/>
                <a:ea typeface="Arial"/>
                <a:cs typeface="Arial"/>
                <a:sym typeface="Arial"/>
              </a:rPr>
              <a:t> to uncover your unique strengths, potential saboteurs, and preferred leadership/communication style.</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Welcome Packet</a:t>
            </a:r>
            <a:r>
              <a:rPr lang="en" sz="4765">
                <a:solidFill>
                  <a:schemeClr val="dk2"/>
                </a:solidFill>
                <a:latin typeface="Arial"/>
                <a:ea typeface="Arial"/>
                <a:cs typeface="Arial"/>
                <a:sym typeface="Arial"/>
              </a:rPr>
              <a:t> with resources to help you start strong and stay organized.</a:t>
            </a:r>
            <a:endParaRPr sz="4765">
              <a:solidFill>
                <a:schemeClr val="dk2"/>
              </a:solidFill>
              <a:latin typeface="Arial"/>
              <a:ea typeface="Arial"/>
              <a:cs typeface="Arial"/>
              <a:sym typeface="Arial"/>
            </a:endParaRPr>
          </a:p>
          <a:p>
            <a:pPr indent="0" lvl="0" marL="0" rtl="0" algn="l">
              <a:spcBef>
                <a:spcPts val="1200"/>
              </a:spcBef>
              <a:spcAft>
                <a:spcPts val="0"/>
              </a:spcAft>
              <a:buNone/>
            </a:pPr>
            <a:r>
              <a:rPr lang="en" sz="4765">
                <a:solidFill>
                  <a:schemeClr val="dk2"/>
                </a:solidFill>
                <a:latin typeface="Arial"/>
                <a:ea typeface="Arial"/>
                <a:cs typeface="Arial"/>
                <a:sym typeface="Arial"/>
              </a:rPr>
              <a:t>Throughout your journey, you’ll have access to powerful tools and exclusive resources, including:</a:t>
            </a:r>
            <a:endParaRPr sz="4765">
              <a:solidFill>
                <a:schemeClr val="dk2"/>
              </a:solidFill>
              <a:latin typeface="Arial"/>
              <a:ea typeface="Arial"/>
              <a:cs typeface="Arial"/>
              <a:sym typeface="Arial"/>
            </a:endParaRPr>
          </a:p>
          <a:p>
            <a:pPr indent="-304250" lvl="0" marL="457200" rtl="0" algn="l">
              <a:spcBef>
                <a:spcPts val="1200"/>
              </a:spcBef>
              <a:spcAft>
                <a:spcPts val="0"/>
              </a:spcAft>
              <a:buClr>
                <a:schemeClr val="dk2"/>
              </a:buClr>
              <a:buSzPct val="100000"/>
              <a:buFont typeface="Arial"/>
              <a:buChar char="●"/>
            </a:pPr>
            <a:r>
              <a:rPr b="1" lang="en" sz="4765">
                <a:solidFill>
                  <a:schemeClr val="dk2"/>
                </a:solidFill>
                <a:latin typeface="Arial"/>
                <a:ea typeface="Arial"/>
                <a:cs typeface="Arial"/>
                <a:sym typeface="Arial"/>
              </a:rPr>
              <a:t>Client Google Folder</a:t>
            </a:r>
            <a:r>
              <a:rPr lang="en" sz="4765">
                <a:solidFill>
                  <a:schemeClr val="dk2"/>
                </a:solidFill>
                <a:latin typeface="Arial"/>
                <a:ea typeface="Arial"/>
                <a:cs typeface="Arial"/>
                <a:sym typeface="Arial"/>
              </a:rPr>
              <a:t> with shared access to all resources, notes, and action plans.</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All Recorded Coaching Sessions</a:t>
            </a:r>
            <a:r>
              <a:rPr lang="en" sz="4765">
                <a:solidFill>
                  <a:schemeClr val="dk2"/>
                </a:solidFill>
                <a:latin typeface="Arial"/>
                <a:ea typeface="Arial"/>
                <a:cs typeface="Arial"/>
                <a:sym typeface="Arial"/>
              </a:rPr>
              <a:t> so you can revisit insights and strategies anytime.</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Access to Custom Templates</a:t>
            </a:r>
            <a:r>
              <a:rPr lang="en" sz="4765">
                <a:solidFill>
                  <a:schemeClr val="dk2"/>
                </a:solidFill>
                <a:latin typeface="Arial"/>
                <a:ea typeface="Arial"/>
                <a:cs typeface="Arial"/>
                <a:sym typeface="Arial"/>
              </a:rPr>
              <a:t> to streamline implementation and decision-making.</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Document Review &amp; Feedback</a:t>
            </a:r>
            <a:r>
              <a:rPr lang="en" sz="4765">
                <a:solidFill>
                  <a:schemeClr val="dk2"/>
                </a:solidFill>
                <a:latin typeface="Arial"/>
                <a:ea typeface="Arial"/>
                <a:cs typeface="Arial"/>
                <a:sym typeface="Arial"/>
              </a:rPr>
              <a:t>—upload files directly to your folder for my eyes and recommendations between sessions.</a:t>
            </a:r>
            <a:endParaRPr sz="4765">
              <a:solidFill>
                <a:schemeClr val="dk2"/>
              </a:solidFill>
              <a:latin typeface="Arial"/>
              <a:ea typeface="Arial"/>
              <a:cs typeface="Arial"/>
              <a:sym typeface="Arial"/>
            </a:endParaRPr>
          </a:p>
          <a:p>
            <a:pPr indent="-304250" lvl="0" marL="457200" rtl="0" algn="l">
              <a:spcBef>
                <a:spcPts val="0"/>
              </a:spcBef>
              <a:spcAft>
                <a:spcPts val="0"/>
              </a:spcAft>
              <a:buClr>
                <a:schemeClr val="dk2"/>
              </a:buClr>
              <a:buSzPct val="100000"/>
              <a:buFont typeface="Arial"/>
              <a:buChar char="●"/>
            </a:pPr>
            <a:r>
              <a:rPr b="1" lang="en" sz="4765">
                <a:solidFill>
                  <a:schemeClr val="dk2"/>
                </a:solidFill>
                <a:latin typeface="Arial"/>
                <a:ea typeface="Arial"/>
                <a:cs typeface="Arial"/>
                <a:sym typeface="Arial"/>
              </a:rPr>
              <a:t>Spot Coaching</a:t>
            </a:r>
            <a:r>
              <a:rPr lang="en" sz="4765">
                <a:solidFill>
                  <a:schemeClr val="dk2"/>
                </a:solidFill>
                <a:latin typeface="Arial"/>
                <a:ea typeface="Arial"/>
                <a:cs typeface="Arial"/>
                <a:sym typeface="Arial"/>
              </a:rPr>
              <a:t>- contact coach for urgent and immediate executive coaching support.</a:t>
            </a:r>
            <a:br>
              <a:rPr lang="en" sz="4765">
                <a:solidFill>
                  <a:schemeClr val="dk2"/>
                </a:solidFill>
                <a:latin typeface="Arial"/>
                <a:ea typeface="Arial"/>
                <a:cs typeface="Arial"/>
                <a:sym typeface="Arial"/>
              </a:rPr>
            </a:br>
            <a:endParaRPr sz="4765">
              <a:solidFill>
                <a:schemeClr val="dk2"/>
              </a:solidFill>
              <a:latin typeface="Arial"/>
              <a:ea typeface="Arial"/>
              <a:cs typeface="Arial"/>
              <a:sym typeface="Arial"/>
            </a:endParaRPr>
          </a:p>
          <a:p>
            <a:pPr indent="0" lvl="0" marL="0" rtl="0" algn="l">
              <a:spcBef>
                <a:spcPts val="1200"/>
              </a:spcBef>
              <a:spcAft>
                <a:spcPts val="0"/>
              </a:spcAft>
              <a:buClr>
                <a:schemeClr val="dk2"/>
              </a:buClr>
              <a:buSzPct val="25198"/>
              <a:buFont typeface="Arial"/>
              <a:buNone/>
            </a:pPr>
            <a:r>
              <a:t/>
            </a:r>
            <a:endParaRPr sz="4365">
              <a:solidFill>
                <a:schemeClr val="dk2"/>
              </a:solidFill>
              <a:latin typeface="Arial"/>
              <a:ea typeface="Arial"/>
              <a:cs typeface="Arial"/>
              <a:sym typeface="Arial"/>
            </a:endParaRPr>
          </a:p>
          <a:p>
            <a:pPr indent="0" lvl="0" marL="0" rtl="0" algn="l">
              <a:lnSpc>
                <a:spcPct val="100000"/>
              </a:lnSpc>
              <a:spcBef>
                <a:spcPts val="1200"/>
              </a:spcBef>
              <a:spcAft>
                <a:spcPts val="0"/>
              </a:spcAft>
              <a:buNone/>
            </a:pPr>
            <a:r>
              <a:t/>
            </a:r>
            <a:endParaRPr b="1" sz="2500">
              <a:solidFill>
                <a:srgbClr val="000000"/>
              </a:solidFill>
            </a:endParaRPr>
          </a:p>
          <a:p>
            <a:pPr indent="0" lvl="0" marL="914400" rtl="0" algn="l">
              <a:spcBef>
                <a:spcPts val="0"/>
              </a:spcBef>
              <a:spcAft>
                <a:spcPts val="1200"/>
              </a:spcAft>
              <a:buNone/>
            </a:pPr>
            <a:r>
              <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title="LinkedIn Newsletter Image (2).jpg"/>
          <p:cNvPicPr preferRelativeResize="0"/>
          <p:nvPr/>
        </p:nvPicPr>
        <p:blipFill>
          <a:blip r:embed="rId3">
            <a:alphaModFix/>
          </a:blip>
          <a:stretch>
            <a:fillRect/>
          </a:stretch>
        </p:blipFill>
        <p:spPr>
          <a:xfrm>
            <a:off x="0" y="0"/>
            <a:ext cx="9296400" cy="5143500"/>
          </a:xfrm>
          <a:prstGeom prst="rect">
            <a:avLst/>
          </a:prstGeom>
          <a:noFill/>
          <a:ln>
            <a:noFill/>
          </a:ln>
        </p:spPr>
      </p:pic>
      <p:sp>
        <p:nvSpPr>
          <p:cNvPr id="102" name="Google Shape;102;p19"/>
          <p:cNvSpPr txBox="1"/>
          <p:nvPr/>
        </p:nvSpPr>
        <p:spPr>
          <a:xfrm>
            <a:off x="1698400" y="1881525"/>
            <a:ext cx="6274800" cy="962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700">
                <a:solidFill>
                  <a:schemeClr val="lt1"/>
                </a:solidFill>
                <a:latin typeface="Montserrat"/>
                <a:ea typeface="Montserrat"/>
                <a:cs typeface="Montserrat"/>
                <a:sym typeface="Montserrat"/>
              </a:rPr>
              <a:t>REAL TRANSFORMATIONS: </a:t>
            </a:r>
            <a:endParaRPr b="1" sz="2700">
              <a:solidFill>
                <a:schemeClr val="lt1"/>
              </a:solidFill>
              <a:latin typeface="Montserrat"/>
              <a:ea typeface="Montserrat"/>
              <a:cs typeface="Montserrat"/>
              <a:sym typeface="Montserrat"/>
            </a:endParaRPr>
          </a:p>
          <a:p>
            <a:pPr indent="0" lvl="0" marL="0" rtl="0" algn="ctr">
              <a:lnSpc>
                <a:spcPct val="150000"/>
              </a:lnSpc>
              <a:spcBef>
                <a:spcPts val="0"/>
              </a:spcBef>
              <a:spcAft>
                <a:spcPts val="0"/>
              </a:spcAft>
              <a:buNone/>
            </a:pPr>
            <a:r>
              <a:rPr lang="en" sz="2700">
                <a:solidFill>
                  <a:schemeClr val="lt1"/>
                </a:solidFill>
                <a:latin typeface="Montserrat"/>
                <a:ea typeface="Montserrat"/>
                <a:cs typeface="Montserrat"/>
                <a:sym typeface="Montserrat"/>
              </a:rPr>
              <a:t>CLIENT TESTIMONIALS</a:t>
            </a:r>
            <a:endParaRPr sz="2700">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268650" y="153425"/>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latin typeface="Montserrat"/>
                <a:ea typeface="Montserrat"/>
                <a:cs typeface="Montserrat"/>
                <a:sym typeface="Montserrat"/>
              </a:rPr>
              <a:t>Client Testimonials </a:t>
            </a:r>
            <a:endParaRPr sz="2400">
              <a:latin typeface="Montserrat"/>
              <a:ea typeface="Montserrat"/>
              <a:cs typeface="Montserrat"/>
              <a:sym typeface="Montserrat"/>
            </a:endParaRPr>
          </a:p>
        </p:txBody>
      </p:sp>
      <p:pic>
        <p:nvPicPr>
          <p:cNvPr id="108" name="Google Shape;108;p20"/>
          <p:cNvPicPr preferRelativeResize="0"/>
          <p:nvPr/>
        </p:nvPicPr>
        <p:blipFill>
          <a:blip r:embed="rId3">
            <a:alphaModFix/>
          </a:blip>
          <a:stretch>
            <a:fillRect/>
          </a:stretch>
        </p:blipFill>
        <p:spPr>
          <a:xfrm>
            <a:off x="308750" y="2167150"/>
            <a:ext cx="1165500" cy="1165500"/>
          </a:xfrm>
          <a:prstGeom prst="ellipse">
            <a:avLst/>
          </a:prstGeom>
          <a:noFill/>
          <a:ln>
            <a:noFill/>
          </a:ln>
        </p:spPr>
      </p:pic>
      <p:pic>
        <p:nvPicPr>
          <p:cNvPr id="109" name="Google Shape;109;p20"/>
          <p:cNvPicPr preferRelativeResize="0"/>
          <p:nvPr/>
        </p:nvPicPr>
        <p:blipFill>
          <a:blip r:embed="rId4">
            <a:alphaModFix/>
          </a:blip>
          <a:stretch>
            <a:fillRect/>
          </a:stretch>
        </p:blipFill>
        <p:spPr>
          <a:xfrm>
            <a:off x="334250" y="3516300"/>
            <a:ext cx="1200600" cy="1200300"/>
          </a:xfrm>
          <a:prstGeom prst="ellipse">
            <a:avLst/>
          </a:prstGeom>
          <a:noFill/>
          <a:ln>
            <a:noFill/>
          </a:ln>
        </p:spPr>
      </p:pic>
      <p:pic>
        <p:nvPicPr>
          <p:cNvPr id="110" name="Google Shape;110;p20"/>
          <p:cNvPicPr preferRelativeResize="0"/>
          <p:nvPr/>
        </p:nvPicPr>
        <p:blipFill>
          <a:blip r:embed="rId5">
            <a:alphaModFix/>
          </a:blip>
          <a:stretch>
            <a:fillRect/>
          </a:stretch>
        </p:blipFill>
        <p:spPr>
          <a:xfrm>
            <a:off x="273650" y="767875"/>
            <a:ext cx="1200600" cy="1200600"/>
          </a:xfrm>
          <a:prstGeom prst="ellipse">
            <a:avLst/>
          </a:prstGeom>
          <a:noFill/>
          <a:ln>
            <a:noFill/>
          </a:ln>
        </p:spPr>
      </p:pic>
      <p:sp>
        <p:nvSpPr>
          <p:cNvPr id="111" name="Google Shape;111;p20"/>
          <p:cNvSpPr txBox="1"/>
          <p:nvPr/>
        </p:nvSpPr>
        <p:spPr>
          <a:xfrm>
            <a:off x="1695500" y="810725"/>
            <a:ext cx="6896700" cy="127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rgbClr val="131313"/>
                </a:solidFill>
                <a:latin typeface="Roboto"/>
                <a:ea typeface="Roboto"/>
                <a:cs typeface="Roboto"/>
                <a:sym typeface="Roboto"/>
              </a:rPr>
              <a:t>Wendy is an incredible coach who understands women of color and helped me feel seen, heard, and understood. She approached all of our sessions with patience, grace, and compassion. Even so, she wasn't afraid to share hard truths and insights that supported my personal and professional journey during our year of working together. Connecting with Wendy was typically the highlight of my week, as it gave me the opportunity to reflect and troubleshoot issues I was experiencing at work in a supportive and non-judgemental environment. My experience with Wendy transformed coaching from a mere task on my to-do list into a nurturing experience that truly supported my growth. I highly recommend Wendy to anyone looking for a transformative coaching experience. </a:t>
            </a:r>
            <a:endParaRPr i="1" sz="900">
              <a:solidFill>
                <a:srgbClr val="131313"/>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131313"/>
                </a:solidFill>
                <a:latin typeface="Roboto"/>
                <a:ea typeface="Roboto"/>
                <a:cs typeface="Roboto"/>
                <a:sym typeface="Roboto"/>
              </a:rPr>
              <a:t>Stephanie Lopez, California</a:t>
            </a:r>
            <a:endParaRPr b="1" sz="900">
              <a:solidFill>
                <a:srgbClr val="131313"/>
              </a:solidFill>
            </a:endParaRPr>
          </a:p>
        </p:txBody>
      </p:sp>
      <p:sp>
        <p:nvSpPr>
          <p:cNvPr id="112" name="Google Shape;112;p20"/>
          <p:cNvSpPr txBox="1"/>
          <p:nvPr/>
        </p:nvSpPr>
        <p:spPr>
          <a:xfrm>
            <a:off x="1695500" y="2166125"/>
            <a:ext cx="6896700" cy="1119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i="1" lang="en" sz="900">
                <a:solidFill>
                  <a:srgbClr val="131313"/>
                </a:solidFill>
                <a:latin typeface="Roboto"/>
                <a:ea typeface="Roboto"/>
                <a:cs typeface="Roboto"/>
                <a:sym typeface="Roboto"/>
              </a:rPr>
              <a:t>I started working with Wendy prior to assuming a position of leadership in my university. I was concerned about my ability to step fully into the role and gain the respect of my peers, in order to transform my workspace into a high functioning team. Wendy pushed me to consider my strengths and how to apply myself for best results. She also helped me work through difficult issues that I encountered by brainstorming solutions that work for me. The customized attention and sage advice made all of the difference on my journey, and has helped me maintain the energy and enthusiasm for the road ahead." </a:t>
            </a:r>
            <a:endParaRPr sz="900">
              <a:solidFill>
                <a:srgbClr val="131313"/>
              </a:solidFill>
              <a:latin typeface="Roboto"/>
              <a:ea typeface="Roboto"/>
              <a:cs typeface="Roboto"/>
              <a:sym typeface="Roboto"/>
            </a:endParaRPr>
          </a:p>
          <a:p>
            <a:pPr indent="0" lvl="0" marL="0" rtl="0" algn="just">
              <a:lnSpc>
                <a:spcPct val="115000"/>
              </a:lnSpc>
              <a:spcBef>
                <a:spcPts val="0"/>
              </a:spcBef>
              <a:spcAft>
                <a:spcPts val="0"/>
              </a:spcAft>
              <a:buNone/>
            </a:pPr>
            <a:r>
              <a:rPr b="1" lang="en" sz="900">
                <a:solidFill>
                  <a:srgbClr val="131313"/>
                </a:solidFill>
                <a:latin typeface="Roboto"/>
                <a:ea typeface="Roboto"/>
                <a:cs typeface="Roboto"/>
                <a:sym typeface="Roboto"/>
              </a:rPr>
              <a:t>Lisa Morgan, Ontario, Canada</a:t>
            </a:r>
            <a:r>
              <a:rPr lang="en" sz="900">
                <a:solidFill>
                  <a:srgbClr val="131313"/>
                </a:solidFill>
                <a:latin typeface="Roboto"/>
                <a:ea typeface="Roboto"/>
                <a:cs typeface="Roboto"/>
                <a:sym typeface="Roboto"/>
              </a:rPr>
              <a:t> </a:t>
            </a:r>
            <a:endParaRPr i="1" sz="900">
              <a:solidFill>
                <a:srgbClr val="131313"/>
              </a:solidFill>
              <a:latin typeface="Roboto"/>
              <a:ea typeface="Roboto"/>
              <a:cs typeface="Roboto"/>
              <a:sym typeface="Roboto"/>
            </a:endParaRPr>
          </a:p>
        </p:txBody>
      </p:sp>
      <p:sp>
        <p:nvSpPr>
          <p:cNvPr id="113" name="Google Shape;113;p20"/>
          <p:cNvSpPr txBox="1"/>
          <p:nvPr/>
        </p:nvSpPr>
        <p:spPr>
          <a:xfrm>
            <a:off x="1695500" y="3362575"/>
            <a:ext cx="6860100" cy="17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rgbClr val="131313"/>
                </a:solidFill>
                <a:latin typeface="Roboto"/>
                <a:ea typeface="Roboto"/>
                <a:cs typeface="Roboto"/>
                <a:sym typeface="Roboto"/>
              </a:rPr>
              <a:t>Wendy's life and leadership coaching program has successfully equipped me with the effective mental mindset tools and techniques to overcome my own "analysis paralysis." She has supported me in developing a deeper self-awareness and increased accountability towards my proposed life and career goals. As CEO &amp; Founder of P2P, some of my accomplishments include:</a:t>
            </a:r>
            <a:endParaRPr i="1" sz="900">
              <a:solidFill>
                <a:srgbClr val="131313"/>
              </a:solidFill>
              <a:latin typeface="Roboto"/>
              <a:ea typeface="Roboto"/>
              <a:cs typeface="Roboto"/>
              <a:sym typeface="Roboto"/>
            </a:endParaRPr>
          </a:p>
          <a:p>
            <a:pPr indent="-285750" lvl="0" marL="457200" rtl="0" algn="l">
              <a:lnSpc>
                <a:spcPct val="115000"/>
              </a:lnSpc>
              <a:spcBef>
                <a:spcPts val="0"/>
              </a:spcBef>
              <a:spcAft>
                <a:spcPts val="0"/>
              </a:spcAft>
              <a:buClr>
                <a:srgbClr val="131313"/>
              </a:buClr>
              <a:buSzPts val="900"/>
              <a:buFont typeface="Roboto"/>
              <a:buChar char="●"/>
            </a:pPr>
            <a:r>
              <a:rPr i="1" lang="en" sz="900">
                <a:solidFill>
                  <a:srgbClr val="131313"/>
                </a:solidFill>
                <a:latin typeface="Roboto"/>
                <a:ea typeface="Roboto"/>
                <a:cs typeface="Roboto"/>
                <a:sym typeface="Roboto"/>
              </a:rPr>
              <a:t>Served as a guest speaker and participated in vending opportunities at various women's empowerment events</a:t>
            </a:r>
            <a:endParaRPr i="1" sz="900">
              <a:solidFill>
                <a:srgbClr val="131313"/>
              </a:solidFill>
              <a:latin typeface="Roboto"/>
              <a:ea typeface="Roboto"/>
              <a:cs typeface="Roboto"/>
              <a:sym typeface="Roboto"/>
            </a:endParaRPr>
          </a:p>
          <a:p>
            <a:pPr indent="-285750" lvl="0" marL="457200" rtl="0" algn="l">
              <a:lnSpc>
                <a:spcPct val="115000"/>
              </a:lnSpc>
              <a:spcBef>
                <a:spcPts val="0"/>
              </a:spcBef>
              <a:spcAft>
                <a:spcPts val="0"/>
              </a:spcAft>
              <a:buClr>
                <a:srgbClr val="131313"/>
              </a:buClr>
              <a:buSzPts val="900"/>
              <a:buFont typeface="Roboto"/>
              <a:buChar char="●"/>
            </a:pPr>
            <a:r>
              <a:rPr i="1" lang="en" sz="900">
                <a:solidFill>
                  <a:srgbClr val="131313"/>
                </a:solidFill>
                <a:latin typeface="Roboto"/>
                <a:ea typeface="Roboto"/>
                <a:cs typeface="Roboto"/>
                <a:sym typeface="Roboto"/>
              </a:rPr>
              <a:t>Featured guest on the Donna Drake Show/Live It Up to discuss my business (show aired on both NBC and CBS)</a:t>
            </a:r>
            <a:endParaRPr i="1" sz="900">
              <a:solidFill>
                <a:srgbClr val="131313"/>
              </a:solidFill>
              <a:latin typeface="Roboto"/>
              <a:ea typeface="Roboto"/>
              <a:cs typeface="Roboto"/>
              <a:sym typeface="Roboto"/>
            </a:endParaRPr>
          </a:p>
          <a:p>
            <a:pPr indent="-285750" lvl="0" marL="457200" rtl="0" algn="l">
              <a:lnSpc>
                <a:spcPct val="115000"/>
              </a:lnSpc>
              <a:spcBef>
                <a:spcPts val="0"/>
              </a:spcBef>
              <a:spcAft>
                <a:spcPts val="0"/>
              </a:spcAft>
              <a:buClr>
                <a:srgbClr val="131313"/>
              </a:buClr>
              <a:buSzPts val="900"/>
              <a:buFont typeface="Roboto"/>
              <a:buChar char="●"/>
            </a:pPr>
            <a:r>
              <a:rPr i="1" lang="en" sz="900">
                <a:solidFill>
                  <a:srgbClr val="131313"/>
                </a:solidFill>
                <a:latin typeface="Roboto"/>
                <a:ea typeface="Roboto"/>
                <a:cs typeface="Roboto"/>
                <a:sym typeface="Roboto"/>
              </a:rPr>
              <a:t>Currently working on my second book soon which is soon to be published</a:t>
            </a:r>
            <a:endParaRPr i="1" sz="900">
              <a:solidFill>
                <a:srgbClr val="131313"/>
              </a:solidFill>
              <a:latin typeface="Roboto"/>
              <a:ea typeface="Roboto"/>
              <a:cs typeface="Roboto"/>
              <a:sym typeface="Roboto"/>
            </a:endParaRPr>
          </a:p>
          <a:p>
            <a:pPr indent="-285750" lvl="0" marL="457200" rtl="0" algn="l">
              <a:lnSpc>
                <a:spcPct val="115000"/>
              </a:lnSpc>
              <a:spcBef>
                <a:spcPts val="0"/>
              </a:spcBef>
              <a:spcAft>
                <a:spcPts val="0"/>
              </a:spcAft>
              <a:buClr>
                <a:srgbClr val="131313"/>
              </a:buClr>
              <a:buSzPts val="900"/>
              <a:buFont typeface="Roboto"/>
              <a:buChar char="●"/>
            </a:pPr>
            <a:r>
              <a:rPr i="1" lang="en" sz="900">
                <a:solidFill>
                  <a:srgbClr val="131313"/>
                </a:solidFill>
                <a:latin typeface="Roboto"/>
                <a:ea typeface="Roboto"/>
                <a:cs typeface="Roboto"/>
                <a:sym typeface="Roboto"/>
              </a:rPr>
              <a:t>Decided to take control of my health and became a gym member</a:t>
            </a:r>
            <a:endParaRPr i="1" sz="900">
              <a:solidFill>
                <a:srgbClr val="131313"/>
              </a:solidFill>
              <a:latin typeface="Roboto"/>
              <a:ea typeface="Roboto"/>
              <a:cs typeface="Roboto"/>
              <a:sym typeface="Roboto"/>
            </a:endParaRPr>
          </a:p>
          <a:p>
            <a:pPr indent="-285750" lvl="0" marL="457200" rtl="0" algn="l">
              <a:lnSpc>
                <a:spcPct val="115000"/>
              </a:lnSpc>
              <a:spcBef>
                <a:spcPts val="0"/>
              </a:spcBef>
              <a:spcAft>
                <a:spcPts val="0"/>
              </a:spcAft>
              <a:buClr>
                <a:srgbClr val="131313"/>
              </a:buClr>
              <a:buSzPts val="900"/>
              <a:buFont typeface="Roboto"/>
              <a:buChar char="●"/>
            </a:pPr>
            <a:r>
              <a:rPr i="1" lang="en" sz="900">
                <a:solidFill>
                  <a:srgbClr val="131313"/>
                </a:solidFill>
                <a:latin typeface="Roboto"/>
                <a:ea typeface="Roboto"/>
                <a:cs typeface="Roboto"/>
                <a:sym typeface="Roboto"/>
              </a:rPr>
              <a:t>Released 30 lbs. of weight since I have been exercising after several months.” </a:t>
            </a:r>
            <a:endParaRPr i="1" sz="900">
              <a:solidFill>
                <a:srgbClr val="131313"/>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131313"/>
                </a:solidFill>
                <a:latin typeface="Roboto"/>
                <a:ea typeface="Roboto"/>
                <a:cs typeface="Roboto"/>
                <a:sym typeface="Roboto"/>
              </a:rPr>
              <a:t>Nicole Carr, Long Island, New York</a:t>
            </a:r>
            <a:endParaRPr b="1" sz="900">
              <a:solidFill>
                <a:srgbClr val="131313"/>
              </a:solidFill>
              <a:latin typeface="Roboto"/>
              <a:ea typeface="Roboto"/>
              <a:cs typeface="Roboto"/>
              <a:sym typeface="Roboto"/>
            </a:endParaRPr>
          </a:p>
          <a:p>
            <a:pPr indent="0" lvl="0" marL="0" rtl="0" algn="l">
              <a:lnSpc>
                <a:spcPct val="115000"/>
              </a:lnSpc>
              <a:spcBef>
                <a:spcPts val="0"/>
              </a:spcBef>
              <a:spcAft>
                <a:spcPts val="0"/>
              </a:spcAft>
              <a:buNone/>
            </a:pPr>
            <a:r>
              <a:t/>
            </a:r>
            <a:endParaRPr i="1" sz="900">
              <a:solidFill>
                <a:srgbClr val="131313"/>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268650" y="153425"/>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latin typeface="Montserrat"/>
                <a:ea typeface="Montserrat"/>
                <a:cs typeface="Montserrat"/>
                <a:sym typeface="Montserrat"/>
              </a:rPr>
              <a:t>Client Testimonials </a:t>
            </a:r>
            <a:endParaRPr sz="2400">
              <a:latin typeface="Montserrat"/>
              <a:ea typeface="Montserrat"/>
              <a:cs typeface="Montserrat"/>
              <a:sym typeface="Montserrat"/>
            </a:endParaRPr>
          </a:p>
        </p:txBody>
      </p:sp>
      <p:sp>
        <p:nvSpPr>
          <p:cNvPr id="119" name="Google Shape;119;p21"/>
          <p:cNvSpPr txBox="1"/>
          <p:nvPr/>
        </p:nvSpPr>
        <p:spPr>
          <a:xfrm>
            <a:off x="1695500" y="2242325"/>
            <a:ext cx="6896700" cy="9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chemeClr val="dk2"/>
                </a:solidFill>
                <a:latin typeface="Roboto"/>
                <a:ea typeface="Roboto"/>
                <a:cs typeface="Roboto"/>
                <a:sym typeface="Roboto"/>
              </a:rPr>
              <a:t>I</a:t>
            </a:r>
            <a:r>
              <a:rPr i="1" lang="en" sz="900">
                <a:solidFill>
                  <a:schemeClr val="dk2"/>
                </a:solidFill>
                <a:latin typeface="Roboto"/>
                <a:ea typeface="Roboto"/>
                <a:cs typeface="Roboto"/>
                <a:sym typeface="Roboto"/>
              </a:rPr>
              <a:t> was able to accomplish nearly everything in my action planning document. At the beginning of the cohort, I was jobless and depressed. Being a part of the cohort and working on my action planning document allowed me to achieve my goals alongside others who would hold me accountable. If there is anyone I would recommend as a coach, it's Wendy. She challenged me to not make excuses and to hold myself accountable. She reminded me that there is a beautiful life on the other side of fear.</a:t>
            </a:r>
            <a:endParaRPr i="1" sz="900">
              <a:solidFill>
                <a:schemeClr val="dk2"/>
              </a:solidFill>
              <a:latin typeface="Roboto"/>
              <a:ea typeface="Roboto"/>
              <a:cs typeface="Roboto"/>
              <a:sym typeface="Roboto"/>
            </a:endParaRPr>
          </a:p>
          <a:p>
            <a:pPr indent="0" lvl="0" marL="0" rtl="0" algn="l">
              <a:lnSpc>
                <a:spcPct val="115000"/>
              </a:lnSpc>
              <a:spcBef>
                <a:spcPts val="0"/>
              </a:spcBef>
              <a:spcAft>
                <a:spcPts val="0"/>
              </a:spcAft>
              <a:buClr>
                <a:schemeClr val="dk2"/>
              </a:buClr>
              <a:buSzPts val="1100"/>
              <a:buFont typeface="Arial"/>
              <a:buNone/>
            </a:pPr>
            <a:r>
              <a:rPr b="1" i="1" lang="en" sz="900">
                <a:solidFill>
                  <a:schemeClr val="dk2"/>
                </a:solidFill>
                <a:latin typeface="Roboto"/>
                <a:ea typeface="Roboto"/>
                <a:cs typeface="Roboto"/>
                <a:sym typeface="Roboto"/>
              </a:rPr>
              <a:t>Tiffany Cordero, Bronx, NY</a:t>
            </a:r>
            <a:endParaRPr b="1" i="1" sz="900">
              <a:solidFill>
                <a:schemeClr val="dk2"/>
              </a:solidFill>
              <a:latin typeface="Roboto"/>
              <a:ea typeface="Roboto"/>
              <a:cs typeface="Roboto"/>
              <a:sym typeface="Roboto"/>
            </a:endParaRPr>
          </a:p>
        </p:txBody>
      </p:sp>
      <p:pic>
        <p:nvPicPr>
          <p:cNvPr id="120" name="Google Shape;120;p21"/>
          <p:cNvPicPr preferRelativeResize="0"/>
          <p:nvPr/>
        </p:nvPicPr>
        <p:blipFill>
          <a:blip r:embed="rId3">
            <a:alphaModFix/>
          </a:blip>
          <a:stretch>
            <a:fillRect/>
          </a:stretch>
        </p:blipFill>
        <p:spPr>
          <a:xfrm>
            <a:off x="354600" y="750725"/>
            <a:ext cx="1233000" cy="1233000"/>
          </a:xfrm>
          <a:prstGeom prst="ellipse">
            <a:avLst/>
          </a:prstGeom>
          <a:noFill/>
          <a:ln>
            <a:noFill/>
          </a:ln>
        </p:spPr>
      </p:pic>
      <p:sp>
        <p:nvSpPr>
          <p:cNvPr id="121" name="Google Shape;121;p21"/>
          <p:cNvSpPr txBox="1"/>
          <p:nvPr/>
        </p:nvSpPr>
        <p:spPr>
          <a:xfrm>
            <a:off x="1695500" y="810725"/>
            <a:ext cx="6896700" cy="143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rgbClr val="222222"/>
                </a:solidFill>
                <a:latin typeface="Roboto"/>
                <a:ea typeface="Roboto"/>
                <a:cs typeface="Roboto"/>
                <a:sym typeface="Roboto"/>
              </a:rPr>
              <a:t>I recently began a mid-career exploration of what new professional chapters might lie ahead and reached out to Wendy to help me polish my (dusty) CV.  During our consultation call, it quickly became apparent that Wendy could offer me so much more than resume editing -- her dynamic personality and candor captured my attention immediately and so began my first coaching experience. I learned so much about myself while working with Wendy. Her careful listening and encouragement during each session combined with the innovative tools and resources that she shared helped guide me towards new ways of thinking about my strengths, skills, and abilities. This was only made more meaningful by Wendy sharing with me her own lived experience as a woman of color. Being able to connect so openly and honestly with someone who could relate how I moved through the world was an absolute gift.</a:t>
            </a:r>
            <a:endParaRPr i="1" sz="900">
              <a:solidFill>
                <a:srgbClr val="222222"/>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222222"/>
                </a:solidFill>
                <a:latin typeface="Roboto"/>
                <a:ea typeface="Roboto"/>
                <a:cs typeface="Roboto"/>
                <a:sym typeface="Roboto"/>
              </a:rPr>
              <a:t>Nicole Vlado, Brooklyn, NY</a:t>
            </a:r>
            <a:endParaRPr b="1" i="1" sz="900">
              <a:solidFill>
                <a:srgbClr val="222222"/>
              </a:solidFill>
              <a:latin typeface="Roboto"/>
              <a:ea typeface="Roboto"/>
              <a:cs typeface="Roboto"/>
              <a:sym typeface="Roboto"/>
            </a:endParaRPr>
          </a:p>
        </p:txBody>
      </p:sp>
      <p:pic>
        <p:nvPicPr>
          <p:cNvPr descr="Tiffany Cordero" id="122" name="Google Shape;122;p21"/>
          <p:cNvPicPr preferRelativeResize="0"/>
          <p:nvPr/>
        </p:nvPicPr>
        <p:blipFill>
          <a:blip r:embed="rId4">
            <a:alphaModFix/>
          </a:blip>
          <a:stretch>
            <a:fillRect/>
          </a:stretch>
        </p:blipFill>
        <p:spPr>
          <a:xfrm>
            <a:off x="284925" y="2184488"/>
            <a:ext cx="1246800" cy="1246800"/>
          </a:xfrm>
          <a:prstGeom prst="ellipse">
            <a:avLst/>
          </a:prstGeom>
          <a:noFill/>
          <a:ln>
            <a:noFill/>
          </a:ln>
        </p:spPr>
      </p:pic>
      <p:sp>
        <p:nvSpPr>
          <p:cNvPr id="123" name="Google Shape;123;p21"/>
          <p:cNvSpPr txBox="1"/>
          <p:nvPr>
            <p:ph idx="1" type="body"/>
          </p:nvPr>
        </p:nvSpPr>
        <p:spPr>
          <a:xfrm>
            <a:off x="1722600" y="3278900"/>
            <a:ext cx="7138200" cy="156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018"/>
              <a:buFont typeface="Arial"/>
              <a:buNone/>
            </a:pPr>
            <a:r>
              <a:rPr i="1" lang="en" sz="932">
                <a:solidFill>
                  <a:schemeClr val="dk2"/>
                </a:solidFill>
                <a:latin typeface="Roboto"/>
                <a:ea typeface="Roboto"/>
                <a:cs typeface="Roboto"/>
                <a:sym typeface="Roboto"/>
              </a:rPr>
              <a:t>At any stage of your career or life journey, along the way you can get stuck. At the time I reached out to Wendy, I was a retired educator struggling to craft a plan to define a new identity.I chose to be coached by Wendy because I TRUSTED that she would help me to break through the barriers that were holding me back from achieving my next level dreams and goals.  Wendy helped me to create a blueprint for my second act after retirement. Her approach was uniquely crafted and tailored specifically to my needs. She helped me to quickly identify my stuck spots, challenge my limiting beliefs and to recognize and embrace all of the tools and resources around me that would facilitate my transformation.I appreciated being coached by Wendy and I feel that she has established a unique approach to personal growth and development.  Wendy listened and was attentive to my specific needs.   She is straightforward and her coaching conversations always felt highly individualized. Wendy’s coaching gave me the opportunity to craft a powerful and compelling growth plan with self-created time frames. My work with Wendy was indeed challenging and thought provoking but certainly more than worth it and with her encouragement, inspiration and support, I did indeed accomplish my second act dream of graduating from Fashion Institute of Technology as a Costume Designer and Wardrobe Technician. I highly endorse Wendy as a professional coach.</a:t>
            </a:r>
            <a:endParaRPr i="1" sz="932">
              <a:solidFill>
                <a:schemeClr val="dk2"/>
              </a:solidFill>
              <a:latin typeface="Roboto"/>
              <a:ea typeface="Roboto"/>
              <a:cs typeface="Roboto"/>
              <a:sym typeface="Roboto"/>
            </a:endParaRPr>
          </a:p>
          <a:p>
            <a:pPr indent="0" lvl="0" marL="0" rtl="0" algn="l">
              <a:lnSpc>
                <a:spcPct val="100000"/>
              </a:lnSpc>
              <a:spcBef>
                <a:spcPts val="0"/>
              </a:spcBef>
              <a:spcAft>
                <a:spcPts val="0"/>
              </a:spcAft>
              <a:buClr>
                <a:schemeClr val="dk2"/>
              </a:buClr>
              <a:buSzPts val="1018"/>
              <a:buFont typeface="Arial"/>
              <a:buNone/>
            </a:pPr>
            <a:r>
              <a:rPr b="1" i="1" lang="en" sz="932">
                <a:solidFill>
                  <a:schemeClr val="dk2"/>
                </a:solidFill>
                <a:latin typeface="Roboto"/>
                <a:ea typeface="Roboto"/>
                <a:cs typeface="Roboto"/>
                <a:sym typeface="Roboto"/>
              </a:rPr>
              <a:t>Lori Bennett, Brooklyn, NY</a:t>
            </a:r>
            <a:endParaRPr b="1" sz="932">
              <a:solidFill>
                <a:srgbClr val="333E48"/>
              </a:solidFill>
              <a:latin typeface="Roboto"/>
              <a:ea typeface="Roboto"/>
              <a:cs typeface="Roboto"/>
              <a:sym typeface="Roboto"/>
            </a:endParaRPr>
          </a:p>
        </p:txBody>
      </p:sp>
      <p:pic>
        <p:nvPicPr>
          <p:cNvPr id="124" name="Google Shape;124;p21"/>
          <p:cNvPicPr preferRelativeResize="0"/>
          <p:nvPr/>
        </p:nvPicPr>
        <p:blipFill>
          <a:blip r:embed="rId5">
            <a:alphaModFix/>
          </a:blip>
          <a:stretch>
            <a:fillRect/>
          </a:stretch>
        </p:blipFill>
        <p:spPr>
          <a:xfrm>
            <a:off x="312825" y="3632075"/>
            <a:ext cx="1115400" cy="12330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268650" y="153425"/>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latin typeface="Montserrat"/>
                <a:ea typeface="Montserrat"/>
                <a:cs typeface="Montserrat"/>
                <a:sym typeface="Montserrat"/>
              </a:rPr>
              <a:t>Client Testimonials </a:t>
            </a:r>
            <a:endParaRPr sz="2400">
              <a:latin typeface="Montserrat"/>
              <a:ea typeface="Montserrat"/>
              <a:cs typeface="Montserrat"/>
              <a:sym typeface="Montserrat"/>
            </a:endParaRPr>
          </a:p>
        </p:txBody>
      </p:sp>
      <p:sp>
        <p:nvSpPr>
          <p:cNvPr id="130" name="Google Shape;130;p22"/>
          <p:cNvSpPr txBox="1"/>
          <p:nvPr/>
        </p:nvSpPr>
        <p:spPr>
          <a:xfrm>
            <a:off x="1695500" y="2318525"/>
            <a:ext cx="6896700" cy="111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i="1" lang="en" sz="900">
                <a:solidFill>
                  <a:srgbClr val="131416"/>
                </a:solidFill>
                <a:highlight>
                  <a:srgbClr val="FFFFFF"/>
                </a:highlight>
                <a:latin typeface="Roboto"/>
                <a:ea typeface="Roboto"/>
                <a:cs typeface="Roboto"/>
                <a:sym typeface="Roboto"/>
              </a:rPr>
              <a:t>I had met Wendy and participated in her Women of Color series in 2020 while undergoing  some serious challenges with a previous role.  During that time, Wendy provided some great feedback that resonated with me so when I had the opportunity to work with her as my Executive Coach, it was a no brainer. Wendy has a holistic approach to coaching, seeing me not only as a professional, but as the multi faceted woman that I am. Wendy seamlessly creates a safe and non judgmental approach all while thoughtfully holding the mirror to some of my thoughts and actions that did not serve me. I cannot recommend Wendy enough. </a:t>
            </a:r>
            <a:endParaRPr i="1" sz="9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chemeClr val="dk2"/>
                </a:solidFill>
                <a:latin typeface="Roboto"/>
                <a:ea typeface="Roboto"/>
                <a:cs typeface="Roboto"/>
                <a:sym typeface="Roboto"/>
              </a:rPr>
              <a:t>Patricia Quintero, New York, NY </a:t>
            </a:r>
            <a:endParaRPr b="1" i="1" sz="900">
              <a:solidFill>
                <a:schemeClr val="dk2"/>
              </a:solidFill>
              <a:latin typeface="Roboto"/>
              <a:ea typeface="Roboto"/>
              <a:cs typeface="Roboto"/>
              <a:sym typeface="Roboto"/>
            </a:endParaRPr>
          </a:p>
        </p:txBody>
      </p:sp>
      <p:sp>
        <p:nvSpPr>
          <p:cNvPr id="131" name="Google Shape;131;p22"/>
          <p:cNvSpPr txBox="1"/>
          <p:nvPr/>
        </p:nvSpPr>
        <p:spPr>
          <a:xfrm>
            <a:off x="1695500" y="886925"/>
            <a:ext cx="6896700" cy="111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chemeClr val="dk2"/>
                </a:solidFill>
                <a:latin typeface="Roboto"/>
                <a:ea typeface="Roboto"/>
                <a:cs typeface="Roboto"/>
                <a:sym typeface="Roboto"/>
              </a:rPr>
              <a:t>I really appreciate you and the coaching that I’ve had with you. Coming to this place has been huge. I recognize that because of the conversations that we've had and the calls that we've had, without them I don't think I wouldn't have gotten here, or I wouldn't have gotten here as quickly as I have. So I appreciate your perspective. I appreciate you challenging me, I appreciate you, showing me so much of myself and peeling back layers. I was able to really hone in on what's really in here to help others discover that as well. Thank you for what you do. I'm so excited for what the future holds for me.</a:t>
            </a:r>
            <a:endParaRPr i="1" sz="9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chemeClr val="dk2"/>
                </a:solidFill>
                <a:latin typeface="Roboto"/>
                <a:ea typeface="Roboto"/>
                <a:cs typeface="Roboto"/>
                <a:sym typeface="Roboto"/>
              </a:rPr>
              <a:t>Morgan Bullock, Atlanta, GA [shortly before launching Sportswomen.co]</a:t>
            </a:r>
            <a:endParaRPr i="1" sz="900">
              <a:solidFill>
                <a:srgbClr val="222222"/>
              </a:solidFill>
              <a:latin typeface="Roboto"/>
              <a:ea typeface="Roboto"/>
              <a:cs typeface="Roboto"/>
              <a:sym typeface="Roboto"/>
            </a:endParaRPr>
          </a:p>
        </p:txBody>
      </p:sp>
      <p:sp>
        <p:nvSpPr>
          <p:cNvPr id="132" name="Google Shape;132;p22"/>
          <p:cNvSpPr txBox="1"/>
          <p:nvPr>
            <p:ph idx="1" type="body"/>
          </p:nvPr>
        </p:nvSpPr>
        <p:spPr>
          <a:xfrm>
            <a:off x="1722600" y="3964700"/>
            <a:ext cx="7138200" cy="652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i="1" lang="en" sz="900">
                <a:solidFill>
                  <a:srgbClr val="131416"/>
                </a:solidFill>
                <a:latin typeface="Roboto"/>
                <a:ea typeface="Roboto"/>
                <a:cs typeface="Roboto"/>
                <a:sym typeface="Roboto"/>
              </a:rPr>
              <a:t>Working with Wendy kept me steady in a very, very difficult year.  And not just me, but my colleague as well.  The relationship has changed the emotionality of the workplace, allowing for better collaboration and better outcomes.” </a:t>
            </a:r>
            <a:endParaRPr i="1" sz="900">
              <a:solidFill>
                <a:srgbClr val="131416"/>
              </a:solidFill>
              <a:latin typeface="Roboto"/>
              <a:ea typeface="Roboto"/>
              <a:cs typeface="Roboto"/>
              <a:sym typeface="Roboto"/>
            </a:endParaRPr>
          </a:p>
          <a:p>
            <a:pPr indent="0" lvl="0" marL="0" rtl="0" algn="l">
              <a:lnSpc>
                <a:spcPct val="115000"/>
              </a:lnSpc>
              <a:spcBef>
                <a:spcPts val="0"/>
              </a:spcBef>
              <a:spcAft>
                <a:spcPts val="0"/>
              </a:spcAft>
              <a:buClr>
                <a:schemeClr val="dk2"/>
              </a:buClr>
              <a:buSzPts val="1100"/>
              <a:buFont typeface="Arial"/>
              <a:buNone/>
            </a:pPr>
            <a:r>
              <a:rPr b="1" i="1" lang="en" sz="900">
                <a:solidFill>
                  <a:srgbClr val="131416"/>
                </a:solidFill>
                <a:latin typeface="Roboto"/>
                <a:ea typeface="Roboto"/>
                <a:cs typeface="Roboto"/>
                <a:sym typeface="Roboto"/>
              </a:rPr>
              <a:t>Emily Kurtz, Brooklyn, NY</a:t>
            </a:r>
            <a:endParaRPr b="1" i="1" sz="900">
              <a:solidFill>
                <a:srgbClr val="131416"/>
              </a:solidFill>
              <a:latin typeface="Roboto"/>
              <a:ea typeface="Roboto"/>
              <a:cs typeface="Roboto"/>
              <a:sym typeface="Roboto"/>
            </a:endParaRPr>
          </a:p>
          <a:p>
            <a:pPr indent="0" lvl="0" marL="0" rtl="0" algn="l">
              <a:lnSpc>
                <a:spcPct val="115000"/>
              </a:lnSpc>
              <a:spcBef>
                <a:spcPts val="0"/>
              </a:spcBef>
              <a:spcAft>
                <a:spcPts val="0"/>
              </a:spcAft>
              <a:buClr>
                <a:schemeClr val="dk2"/>
              </a:buClr>
              <a:buSzPts val="1018"/>
              <a:buFont typeface="Arial"/>
              <a:buNone/>
            </a:pPr>
            <a:r>
              <a:t/>
            </a:r>
            <a:endParaRPr i="1" sz="900">
              <a:solidFill>
                <a:schemeClr val="dk2"/>
              </a:solidFill>
              <a:latin typeface="Roboto"/>
              <a:ea typeface="Roboto"/>
              <a:cs typeface="Roboto"/>
              <a:sym typeface="Roboto"/>
            </a:endParaRPr>
          </a:p>
        </p:txBody>
      </p:sp>
      <p:pic>
        <p:nvPicPr>
          <p:cNvPr id="133" name="Google Shape;133;p22"/>
          <p:cNvPicPr preferRelativeResize="0"/>
          <p:nvPr/>
        </p:nvPicPr>
        <p:blipFill>
          <a:blip r:embed="rId3">
            <a:alphaModFix/>
          </a:blip>
          <a:stretch>
            <a:fillRect/>
          </a:stretch>
        </p:blipFill>
        <p:spPr>
          <a:xfrm>
            <a:off x="356925" y="822325"/>
            <a:ext cx="1201800" cy="1201800"/>
          </a:xfrm>
          <a:prstGeom prst="ellipse">
            <a:avLst/>
          </a:prstGeom>
          <a:noFill/>
          <a:ln>
            <a:noFill/>
          </a:ln>
        </p:spPr>
      </p:pic>
      <p:pic>
        <p:nvPicPr>
          <p:cNvPr id="134" name="Google Shape;134;p22"/>
          <p:cNvPicPr preferRelativeResize="0"/>
          <p:nvPr/>
        </p:nvPicPr>
        <p:blipFill rotWithShape="1">
          <a:blip r:embed="rId4">
            <a:alphaModFix/>
          </a:blip>
          <a:srcRect b="0" l="7133" r="10208" t="0"/>
          <a:stretch/>
        </p:blipFill>
        <p:spPr>
          <a:xfrm>
            <a:off x="312825" y="2327075"/>
            <a:ext cx="1201800" cy="1167000"/>
          </a:xfrm>
          <a:prstGeom prst="ellipse">
            <a:avLst/>
          </a:prstGeom>
          <a:noFill/>
          <a:ln>
            <a:noFill/>
          </a:ln>
        </p:spPr>
      </p:pic>
      <p:pic>
        <p:nvPicPr>
          <p:cNvPr id="135" name="Google Shape;135;p22"/>
          <p:cNvPicPr preferRelativeResize="0"/>
          <p:nvPr/>
        </p:nvPicPr>
        <p:blipFill>
          <a:blip r:embed="rId5">
            <a:alphaModFix/>
          </a:blip>
          <a:stretch>
            <a:fillRect/>
          </a:stretch>
        </p:blipFill>
        <p:spPr>
          <a:xfrm>
            <a:off x="354350" y="3732875"/>
            <a:ext cx="1119900" cy="1119900"/>
          </a:xfrm>
          <a:prstGeom prst="ellipse">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268650" y="153425"/>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latin typeface="Montserrat"/>
                <a:ea typeface="Montserrat"/>
                <a:cs typeface="Montserrat"/>
                <a:sym typeface="Montserrat"/>
              </a:rPr>
              <a:t>Client Testimonials </a:t>
            </a:r>
            <a:endParaRPr sz="2400">
              <a:latin typeface="Montserrat"/>
              <a:ea typeface="Montserrat"/>
              <a:cs typeface="Montserrat"/>
              <a:sym typeface="Montserrat"/>
            </a:endParaRPr>
          </a:p>
        </p:txBody>
      </p:sp>
      <p:sp>
        <p:nvSpPr>
          <p:cNvPr id="141" name="Google Shape;141;p23"/>
          <p:cNvSpPr txBox="1"/>
          <p:nvPr/>
        </p:nvSpPr>
        <p:spPr>
          <a:xfrm>
            <a:off x="1695500" y="810725"/>
            <a:ext cx="6708900" cy="9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i="1" lang="en" sz="900">
                <a:solidFill>
                  <a:srgbClr val="202124"/>
                </a:solidFill>
                <a:latin typeface="Roboto"/>
                <a:ea typeface="Roboto"/>
                <a:cs typeface="Roboto"/>
                <a:sym typeface="Roboto"/>
              </a:rPr>
              <a:t>Wendy is an amazing coach and an inspiring leader. I feel deeply appreciative of Wendy's support during some professionally challenging months. She catered our sessions to my needs, even when I didn't know what I needed, I am better at identifying, setting and communicating my boundaries. I feel more confident in my decision-making skills as it relates to my professional growth. Wendy is also just a dope human-being with amazing experience and I genuinely enjoyed meeting with her during our coaching calls.</a:t>
            </a:r>
            <a:endParaRPr i="1" sz="900">
              <a:solidFill>
                <a:srgbClr val="202124"/>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202124"/>
                </a:solidFill>
                <a:latin typeface="Roboto"/>
                <a:ea typeface="Roboto"/>
                <a:cs typeface="Roboto"/>
                <a:sym typeface="Roboto"/>
              </a:rPr>
              <a:t>Alexis Brown, Washington, D.C. </a:t>
            </a:r>
            <a:endParaRPr i="1" sz="900">
              <a:solidFill>
                <a:srgbClr val="131313"/>
              </a:solidFill>
              <a:latin typeface="Roboto"/>
              <a:ea typeface="Roboto"/>
              <a:cs typeface="Roboto"/>
              <a:sym typeface="Roboto"/>
            </a:endParaRPr>
          </a:p>
        </p:txBody>
      </p:sp>
      <p:sp>
        <p:nvSpPr>
          <p:cNvPr id="142" name="Google Shape;142;p23"/>
          <p:cNvSpPr txBox="1"/>
          <p:nvPr/>
        </p:nvSpPr>
        <p:spPr>
          <a:xfrm>
            <a:off x="1695500" y="2242325"/>
            <a:ext cx="63525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i="1" lang="en" sz="900">
                <a:solidFill>
                  <a:schemeClr val="dk2"/>
                </a:solidFill>
                <a:latin typeface="Roboto"/>
                <a:ea typeface="Roboto"/>
                <a:cs typeface="Roboto"/>
                <a:sym typeface="Roboto"/>
              </a:rPr>
              <a:t>I wanted to share some amazing news. I wanted to let you know that I am so grateful for your services and skills because I got an off cycle raise and it was huge. And they want to give more opportunities so I'm training my team up for the next level. </a:t>
            </a:r>
            <a:endParaRPr i="1" sz="900">
              <a:solidFill>
                <a:srgbClr val="131313"/>
              </a:solidFill>
              <a:latin typeface="Roboto"/>
              <a:ea typeface="Roboto"/>
              <a:cs typeface="Roboto"/>
              <a:sym typeface="Roboto"/>
            </a:endParaRPr>
          </a:p>
          <a:p>
            <a:pPr indent="0" lvl="0" marL="0" rtl="0" algn="just">
              <a:lnSpc>
                <a:spcPct val="115000"/>
              </a:lnSpc>
              <a:spcBef>
                <a:spcPts val="0"/>
              </a:spcBef>
              <a:spcAft>
                <a:spcPts val="0"/>
              </a:spcAft>
              <a:buNone/>
            </a:pPr>
            <a:r>
              <a:rPr b="1" lang="en" sz="900">
                <a:solidFill>
                  <a:srgbClr val="131313"/>
                </a:solidFill>
                <a:latin typeface="Roboto"/>
                <a:ea typeface="Roboto"/>
                <a:cs typeface="Roboto"/>
                <a:sym typeface="Roboto"/>
              </a:rPr>
              <a:t>Melissa Delgado</a:t>
            </a:r>
            <a:r>
              <a:rPr lang="en" sz="900">
                <a:solidFill>
                  <a:srgbClr val="131313"/>
                </a:solidFill>
                <a:latin typeface="Roboto"/>
                <a:ea typeface="Roboto"/>
                <a:cs typeface="Roboto"/>
                <a:sym typeface="Roboto"/>
              </a:rPr>
              <a:t>, </a:t>
            </a:r>
            <a:r>
              <a:rPr b="1" lang="en" sz="900">
                <a:solidFill>
                  <a:srgbClr val="131313"/>
                </a:solidFill>
                <a:latin typeface="Roboto"/>
                <a:ea typeface="Roboto"/>
                <a:cs typeface="Roboto"/>
                <a:sym typeface="Roboto"/>
              </a:rPr>
              <a:t>California</a:t>
            </a:r>
            <a:endParaRPr b="1" i="1" sz="900">
              <a:solidFill>
                <a:srgbClr val="131313"/>
              </a:solidFill>
              <a:latin typeface="Roboto"/>
              <a:ea typeface="Roboto"/>
              <a:cs typeface="Roboto"/>
              <a:sym typeface="Roboto"/>
            </a:endParaRPr>
          </a:p>
        </p:txBody>
      </p:sp>
      <p:sp>
        <p:nvSpPr>
          <p:cNvPr id="143" name="Google Shape;143;p23"/>
          <p:cNvSpPr txBox="1"/>
          <p:nvPr/>
        </p:nvSpPr>
        <p:spPr>
          <a:xfrm>
            <a:off x="1695500" y="3446350"/>
            <a:ext cx="7243200" cy="159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900">
                <a:solidFill>
                  <a:schemeClr val="dk2"/>
                </a:solidFill>
                <a:latin typeface="Roboto"/>
                <a:ea typeface="Roboto"/>
                <a:cs typeface="Roboto"/>
                <a:sym typeface="Roboto"/>
              </a:rPr>
              <a:t>With your coaching, I feel a sense of responsibility and purpose, but also potency and power. You said something to me that changed everything: ‘You are not there to become an executive in the way that you're imagining it, you are there to become you and for the system to shift around you.’ </a:t>
            </a:r>
            <a:r>
              <a:rPr i="1" lang="en" sz="900">
                <a:solidFill>
                  <a:schemeClr val="dk2"/>
                </a:solidFill>
                <a:latin typeface="Roboto"/>
                <a:ea typeface="Roboto"/>
                <a:cs typeface="Roboto"/>
                <a:sym typeface="Roboto"/>
              </a:rPr>
              <a:t>You don't have to conform to a toxic system. You are there to bring something that is nourishing into a toxic system and that has changed everything like I am what an executive can be, I  don't feel like I'm trying to become anything other than myself.I know who I am in the world now, and I know the ancestors I carry with me, and I know what they have done.  I feel like my roots are back, and I know what they are, and I've never really had that in this way. And to just see a person, you, who has done so much work to be embodied in her  own power, and is looking back at me that looks a little like my face is just…priceless.</a:t>
            </a:r>
            <a:endParaRPr i="1" sz="9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131313"/>
                </a:solidFill>
                <a:latin typeface="Roboto"/>
                <a:ea typeface="Roboto"/>
                <a:cs typeface="Roboto"/>
                <a:sym typeface="Roboto"/>
              </a:rPr>
              <a:t>Catarina Campbell, Vermont</a:t>
            </a:r>
            <a:endParaRPr b="1" sz="900">
              <a:solidFill>
                <a:srgbClr val="131313"/>
              </a:solidFill>
              <a:latin typeface="Roboto"/>
              <a:ea typeface="Roboto"/>
              <a:cs typeface="Roboto"/>
              <a:sym typeface="Roboto"/>
            </a:endParaRPr>
          </a:p>
          <a:p>
            <a:pPr indent="0" lvl="0" marL="0" rtl="0" algn="l">
              <a:lnSpc>
                <a:spcPct val="115000"/>
              </a:lnSpc>
              <a:spcBef>
                <a:spcPts val="0"/>
              </a:spcBef>
              <a:spcAft>
                <a:spcPts val="0"/>
              </a:spcAft>
              <a:buNone/>
            </a:pPr>
            <a:r>
              <a:t/>
            </a:r>
            <a:endParaRPr i="1" sz="900">
              <a:solidFill>
                <a:srgbClr val="131313"/>
              </a:solidFill>
              <a:latin typeface="Roboto"/>
              <a:ea typeface="Roboto"/>
              <a:cs typeface="Roboto"/>
              <a:sym typeface="Roboto"/>
            </a:endParaRPr>
          </a:p>
        </p:txBody>
      </p:sp>
      <p:pic>
        <p:nvPicPr>
          <p:cNvPr id="144" name="Google Shape;144;p23"/>
          <p:cNvPicPr preferRelativeResize="0"/>
          <p:nvPr/>
        </p:nvPicPr>
        <p:blipFill>
          <a:blip r:embed="rId3">
            <a:alphaModFix/>
          </a:blip>
          <a:stretch>
            <a:fillRect/>
          </a:stretch>
        </p:blipFill>
        <p:spPr>
          <a:xfrm>
            <a:off x="362975" y="825188"/>
            <a:ext cx="1164300" cy="1164300"/>
          </a:xfrm>
          <a:prstGeom prst="ellipse">
            <a:avLst/>
          </a:prstGeom>
          <a:noFill/>
          <a:ln>
            <a:noFill/>
          </a:ln>
        </p:spPr>
      </p:pic>
      <p:pic>
        <p:nvPicPr>
          <p:cNvPr id="145" name="Google Shape;145;p23"/>
          <p:cNvPicPr preferRelativeResize="0"/>
          <p:nvPr/>
        </p:nvPicPr>
        <p:blipFill>
          <a:blip r:embed="rId4">
            <a:alphaModFix/>
          </a:blip>
          <a:stretch>
            <a:fillRect/>
          </a:stretch>
        </p:blipFill>
        <p:spPr>
          <a:xfrm>
            <a:off x="398075" y="3533150"/>
            <a:ext cx="1164300" cy="1164300"/>
          </a:xfrm>
          <a:prstGeom prst="ellipse">
            <a:avLst/>
          </a:prstGeom>
          <a:noFill/>
          <a:ln>
            <a:noFill/>
          </a:ln>
        </p:spPr>
      </p:pic>
      <p:pic>
        <p:nvPicPr>
          <p:cNvPr id="146" name="Google Shape;146;p23"/>
          <p:cNvPicPr preferRelativeResize="0"/>
          <p:nvPr/>
        </p:nvPicPr>
        <p:blipFill>
          <a:blip r:embed="rId5">
            <a:alphaModFix/>
          </a:blip>
          <a:stretch>
            <a:fillRect/>
          </a:stretch>
        </p:blipFill>
        <p:spPr>
          <a:xfrm>
            <a:off x="385175" y="2166125"/>
            <a:ext cx="1119900" cy="111990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268650" y="153425"/>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latin typeface="Montserrat"/>
                <a:ea typeface="Montserrat"/>
                <a:cs typeface="Montserrat"/>
                <a:sym typeface="Montserrat"/>
              </a:rPr>
              <a:t>Client Testimonials </a:t>
            </a:r>
            <a:endParaRPr sz="2400">
              <a:latin typeface="Montserrat"/>
              <a:ea typeface="Montserrat"/>
              <a:cs typeface="Montserrat"/>
              <a:sym typeface="Montserrat"/>
            </a:endParaRPr>
          </a:p>
        </p:txBody>
      </p:sp>
      <p:sp>
        <p:nvSpPr>
          <p:cNvPr id="152" name="Google Shape;152;p24"/>
          <p:cNvSpPr txBox="1"/>
          <p:nvPr/>
        </p:nvSpPr>
        <p:spPr>
          <a:xfrm>
            <a:off x="1695500" y="810725"/>
            <a:ext cx="6708900" cy="8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i="1" lang="en" sz="900">
                <a:solidFill>
                  <a:schemeClr val="dk2"/>
                </a:solidFill>
                <a:highlight>
                  <a:srgbClr val="FFFFFF"/>
                </a:highlight>
                <a:latin typeface="Roboto"/>
                <a:ea typeface="Roboto"/>
                <a:cs typeface="Roboto"/>
                <a:sym typeface="Roboto"/>
              </a:rPr>
              <a:t>Wendy is an incredible coach and advocate for her clients. I worked with her for 6 months and found her guidance invaluable. She helped me grow as a professional and gave me tangible tools to use to better myself as leader. I highly recommend working with Wendy, she is the absolute best!</a:t>
            </a:r>
            <a:endParaRPr i="1" sz="900">
              <a:solidFill>
                <a:srgbClr val="202124"/>
              </a:solidFill>
              <a:latin typeface="Roboto"/>
              <a:ea typeface="Roboto"/>
              <a:cs typeface="Roboto"/>
              <a:sym typeface="Roboto"/>
            </a:endParaRPr>
          </a:p>
          <a:p>
            <a:pPr indent="0" lvl="0" marL="0" rtl="0" algn="l">
              <a:lnSpc>
                <a:spcPct val="115000"/>
              </a:lnSpc>
              <a:spcBef>
                <a:spcPts val="0"/>
              </a:spcBef>
              <a:spcAft>
                <a:spcPts val="0"/>
              </a:spcAft>
              <a:buNone/>
            </a:pPr>
            <a:r>
              <a:rPr b="1" i="1" lang="en" sz="900">
                <a:solidFill>
                  <a:srgbClr val="202124"/>
                </a:solidFill>
                <a:latin typeface="Roboto"/>
                <a:ea typeface="Roboto"/>
                <a:cs typeface="Roboto"/>
                <a:sym typeface="Roboto"/>
              </a:rPr>
              <a:t>Teal Inzunza, New York, New York</a:t>
            </a:r>
            <a:endParaRPr i="1" sz="900">
              <a:solidFill>
                <a:srgbClr val="131313"/>
              </a:solidFill>
              <a:latin typeface="Roboto"/>
              <a:ea typeface="Roboto"/>
              <a:cs typeface="Roboto"/>
              <a:sym typeface="Roboto"/>
            </a:endParaRPr>
          </a:p>
        </p:txBody>
      </p:sp>
      <p:pic>
        <p:nvPicPr>
          <p:cNvPr id="153" name="Google Shape;153;p24"/>
          <p:cNvPicPr preferRelativeResize="0"/>
          <p:nvPr/>
        </p:nvPicPr>
        <p:blipFill>
          <a:blip r:embed="rId3">
            <a:alphaModFix/>
          </a:blip>
          <a:stretch>
            <a:fillRect/>
          </a:stretch>
        </p:blipFill>
        <p:spPr>
          <a:xfrm>
            <a:off x="336525" y="810725"/>
            <a:ext cx="1119900" cy="1119900"/>
          </a:xfrm>
          <a:prstGeom prst="ellipse">
            <a:avLst/>
          </a:prstGeom>
          <a:noFill/>
          <a:ln>
            <a:noFill/>
          </a:ln>
        </p:spPr>
      </p:pic>
      <p:pic>
        <p:nvPicPr>
          <p:cNvPr id="154" name="Google Shape;154;p24"/>
          <p:cNvPicPr preferRelativeResize="0"/>
          <p:nvPr/>
        </p:nvPicPr>
        <p:blipFill>
          <a:blip r:embed="rId4">
            <a:alphaModFix/>
          </a:blip>
          <a:stretch>
            <a:fillRect/>
          </a:stretch>
        </p:blipFill>
        <p:spPr>
          <a:xfrm>
            <a:off x="288375" y="2087975"/>
            <a:ext cx="1216200" cy="1216200"/>
          </a:xfrm>
          <a:prstGeom prst="ellipse">
            <a:avLst/>
          </a:prstGeom>
          <a:noFill/>
          <a:ln>
            <a:noFill/>
          </a:ln>
        </p:spPr>
      </p:pic>
      <p:sp>
        <p:nvSpPr>
          <p:cNvPr id="155" name="Google Shape;155;p24"/>
          <p:cNvSpPr txBox="1"/>
          <p:nvPr/>
        </p:nvSpPr>
        <p:spPr>
          <a:xfrm>
            <a:off x="1695500" y="2156100"/>
            <a:ext cx="68409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chemeClr val="dk2"/>
                </a:solidFill>
                <a:highlight>
                  <a:srgbClr val="FFFFFF"/>
                </a:highlight>
                <a:latin typeface="Roboto"/>
                <a:ea typeface="Roboto"/>
                <a:cs typeface="Roboto"/>
                <a:sym typeface="Roboto"/>
              </a:rPr>
              <a:t>Wendy facilitated a board retreat for us. She is a brilliant facilitator whose empathetic approach builds trust quickly. Wendy’s superpower is the speed with which she is able to assess needs, navigate dynamics, and coalesce groups around shared goals. We were extremely pleased with the quality and clarity of Wendy’s preparation, delivery, and follow up. She is in a class by herself! I would recommend her without hesitation.</a:t>
            </a:r>
            <a:r>
              <a:rPr lang="en" sz="900">
                <a:solidFill>
                  <a:schemeClr val="dk2"/>
                </a:solidFill>
                <a:highlight>
                  <a:srgbClr val="FFFFFF"/>
                </a:highlight>
                <a:latin typeface="Roboto"/>
                <a:ea typeface="Roboto"/>
                <a:cs typeface="Roboto"/>
                <a:sym typeface="Roboto"/>
              </a:rPr>
              <a:t> </a:t>
            </a:r>
            <a:endParaRPr sz="900">
              <a:solidFill>
                <a:schemeClr val="dk2"/>
              </a:solidFill>
              <a:highlight>
                <a:srgbClr val="FFFFFF"/>
              </a:highlight>
              <a:latin typeface="Roboto"/>
              <a:ea typeface="Roboto"/>
              <a:cs typeface="Roboto"/>
              <a:sym typeface="Roboto"/>
            </a:endParaRPr>
          </a:p>
          <a:p>
            <a:pPr indent="0" lvl="0" marL="0" rtl="0" algn="l">
              <a:spcBef>
                <a:spcPts val="0"/>
              </a:spcBef>
              <a:spcAft>
                <a:spcPts val="0"/>
              </a:spcAft>
              <a:buNone/>
            </a:pPr>
            <a:r>
              <a:rPr b="1" i="1" lang="en" sz="900">
                <a:solidFill>
                  <a:schemeClr val="dk2"/>
                </a:solidFill>
                <a:highlight>
                  <a:srgbClr val="FFFFFF"/>
                </a:highlight>
                <a:latin typeface="Roboto"/>
                <a:ea typeface="Roboto"/>
                <a:cs typeface="Roboto"/>
                <a:sym typeface="Roboto"/>
              </a:rPr>
              <a:t>Lynne Toye, Newark, NJ </a:t>
            </a:r>
            <a:endParaRPr b="1" i="1" sz="900">
              <a:solidFill>
                <a:schemeClr val="dk2"/>
              </a:solidFill>
              <a:highlight>
                <a:srgbClr val="FFFFFF"/>
              </a:highlight>
              <a:latin typeface="Roboto"/>
              <a:ea typeface="Roboto"/>
              <a:cs typeface="Roboto"/>
              <a:sym typeface="Roboto"/>
            </a:endParaRPr>
          </a:p>
        </p:txBody>
      </p:sp>
      <p:pic>
        <p:nvPicPr>
          <p:cNvPr id="156" name="Google Shape;156;p24"/>
          <p:cNvPicPr preferRelativeResize="0"/>
          <p:nvPr/>
        </p:nvPicPr>
        <p:blipFill>
          <a:blip r:embed="rId5">
            <a:alphaModFix/>
          </a:blip>
          <a:stretch>
            <a:fillRect/>
          </a:stretch>
        </p:blipFill>
        <p:spPr>
          <a:xfrm>
            <a:off x="241125" y="3560150"/>
            <a:ext cx="1310700" cy="1310700"/>
          </a:xfrm>
          <a:prstGeom prst="ellipse">
            <a:avLst/>
          </a:prstGeom>
          <a:noFill/>
          <a:ln>
            <a:noFill/>
          </a:ln>
        </p:spPr>
      </p:pic>
      <p:sp>
        <p:nvSpPr>
          <p:cNvPr id="157" name="Google Shape;157;p24"/>
          <p:cNvSpPr txBox="1"/>
          <p:nvPr/>
        </p:nvSpPr>
        <p:spPr>
          <a:xfrm>
            <a:off x="1725875" y="3472200"/>
            <a:ext cx="71184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chemeClr val="dk2"/>
                </a:solidFill>
                <a:highlight>
                  <a:srgbClr val="FFFFFF"/>
                </a:highlight>
                <a:latin typeface="Roboto"/>
                <a:ea typeface="Roboto"/>
                <a:cs typeface="Roboto"/>
                <a:sym typeface="Roboto"/>
              </a:rPr>
              <a:t>Wendy Perdomo is in a class by herself; they truly broke the "mold" with her. Ms. Perdomo's level of expertise, compassion and ability to engage, inform and foster meaningful connections, and discussion, sets her apart from other coaches and facilitators. Her ability to connect with people and ensure that those she is working with get the most out of any engagement is truly unparalleled. She creates a collaborative atmosphere that is also thought provoking. I can't thank her enough for creating a space where growth and learning could thrive.</a:t>
            </a:r>
            <a:endParaRPr i="1" sz="900">
              <a:solidFill>
                <a:schemeClr val="dk2"/>
              </a:solidFill>
              <a:highlight>
                <a:srgbClr val="FFFFFF"/>
              </a:highlight>
              <a:latin typeface="Roboto"/>
              <a:ea typeface="Roboto"/>
              <a:cs typeface="Roboto"/>
              <a:sym typeface="Roboto"/>
            </a:endParaRPr>
          </a:p>
          <a:p>
            <a:pPr indent="0" lvl="0" marL="0" rtl="0" algn="l">
              <a:spcBef>
                <a:spcPts val="0"/>
              </a:spcBef>
              <a:spcAft>
                <a:spcPts val="0"/>
              </a:spcAft>
              <a:buNone/>
            </a:pPr>
            <a:r>
              <a:t/>
            </a:r>
            <a:endParaRPr i="1" sz="900">
              <a:solidFill>
                <a:schemeClr val="dk2"/>
              </a:solidFill>
            </a:endParaRPr>
          </a:p>
          <a:p>
            <a:pPr indent="0" lvl="0" marL="0" rtl="0" algn="l">
              <a:spcBef>
                <a:spcPts val="0"/>
              </a:spcBef>
              <a:spcAft>
                <a:spcPts val="0"/>
              </a:spcAft>
              <a:buNone/>
            </a:pPr>
            <a:r>
              <a:rPr i="1" lang="en" sz="900">
                <a:solidFill>
                  <a:schemeClr val="dk2"/>
                </a:solidFill>
                <a:highlight>
                  <a:srgbClr val="FFFFFF"/>
                </a:highlight>
                <a:latin typeface="Roboto"/>
                <a:ea typeface="Roboto"/>
                <a:cs typeface="Roboto"/>
                <a:sym typeface="Roboto"/>
              </a:rPr>
              <a:t>It has been both an honor and privilege to work with Wendy. I have left all our interactions inspired and excited for what is yet to come. Wendy is a thoughtful leader who truly cares about supporting and developing her team, her colleagues, her clients and any organization that she serves, She is a high impact leader who authentically mentors and coaches. I can not recommend her enough!</a:t>
            </a:r>
            <a:endParaRPr i="1" sz="900">
              <a:solidFill>
                <a:schemeClr val="dk2"/>
              </a:solidFill>
              <a:highlight>
                <a:srgbClr val="FFFFFF"/>
              </a:highlight>
              <a:latin typeface="Roboto"/>
              <a:ea typeface="Roboto"/>
              <a:cs typeface="Roboto"/>
              <a:sym typeface="Roboto"/>
            </a:endParaRPr>
          </a:p>
          <a:p>
            <a:pPr indent="0" lvl="0" marL="0" rtl="0" algn="l">
              <a:spcBef>
                <a:spcPts val="0"/>
              </a:spcBef>
              <a:spcAft>
                <a:spcPts val="0"/>
              </a:spcAft>
              <a:buNone/>
            </a:pPr>
            <a:r>
              <a:rPr b="1" i="1" lang="en" sz="900">
                <a:solidFill>
                  <a:schemeClr val="dk2"/>
                </a:solidFill>
                <a:highlight>
                  <a:srgbClr val="FFFFFF"/>
                </a:highlight>
                <a:latin typeface="Roboto"/>
                <a:ea typeface="Roboto"/>
                <a:cs typeface="Roboto"/>
                <a:sym typeface="Roboto"/>
              </a:rPr>
              <a:t>Tanya Ramos-Puig, FL</a:t>
            </a:r>
            <a:endParaRPr b="1" i="1" sz="900">
              <a:solidFill>
                <a:schemeClr val="dk2"/>
              </a:solidFill>
              <a:highlight>
                <a:srgbClr val="FFFFFF"/>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