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058400" cx="77724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Montserrat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Light-bold.fntdata"/><Relationship Id="rId21" Type="http://schemas.openxmlformats.org/officeDocument/2006/relationships/font" Target="fonts/MontserratLight-regular.fntdata"/><Relationship Id="rId24" Type="http://schemas.openxmlformats.org/officeDocument/2006/relationships/font" Target="fonts/MontserratLight-boldItalic.fntdata"/><Relationship Id="rId23" Type="http://schemas.openxmlformats.org/officeDocument/2006/relationships/font" Target="fonts/Montserrat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9b5f4a985_0_2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9b5f4a98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87b86bb09_0_58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87b86bb0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d87b86bb09_0_41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d87b86bb0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88a2495df_0_0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88a2495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88a2495df_0_61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88a2495d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88a2495df_0_11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d88a2495d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87b86bb09_0_5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87b86bb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25c5db44a_0_0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25c5db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b3f10cb46_0_0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4b3f10cb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c149034d4_1_0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c149034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400640f50_0_14:notes"/>
          <p:cNvSpPr/>
          <p:nvPr>
            <p:ph idx="2" type="sldImg"/>
          </p:nvPr>
        </p:nvSpPr>
        <p:spPr>
          <a:xfrm>
            <a:off x="2104468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400640f5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8.jpg"/><Relationship Id="rId7" Type="http://schemas.openxmlformats.org/officeDocument/2006/relationships/image" Target="../media/image37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22" Type="http://schemas.openxmlformats.org/officeDocument/2006/relationships/image" Target="../media/image33.png"/><Relationship Id="rId21" Type="http://schemas.openxmlformats.org/officeDocument/2006/relationships/image" Target="../media/image42.png"/><Relationship Id="rId24" Type="http://schemas.openxmlformats.org/officeDocument/2006/relationships/image" Target="../media/image35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40.png"/><Relationship Id="rId26" Type="http://schemas.openxmlformats.org/officeDocument/2006/relationships/image" Target="../media/image43.png"/><Relationship Id="rId25" Type="http://schemas.openxmlformats.org/officeDocument/2006/relationships/image" Target="../media/image41.png"/><Relationship Id="rId28" Type="http://schemas.openxmlformats.org/officeDocument/2006/relationships/image" Target="../media/image45.png"/><Relationship Id="rId27" Type="http://schemas.openxmlformats.org/officeDocument/2006/relationships/image" Target="../media/image44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29" Type="http://schemas.openxmlformats.org/officeDocument/2006/relationships/image" Target="../media/image34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Relationship Id="rId31" Type="http://schemas.openxmlformats.org/officeDocument/2006/relationships/image" Target="../media/image39.png"/><Relationship Id="rId30" Type="http://schemas.openxmlformats.org/officeDocument/2006/relationships/image" Target="../media/image38.png"/><Relationship Id="rId11" Type="http://schemas.openxmlformats.org/officeDocument/2006/relationships/image" Target="../media/image26.png"/><Relationship Id="rId10" Type="http://schemas.openxmlformats.org/officeDocument/2006/relationships/image" Target="../media/image18.png"/><Relationship Id="rId13" Type="http://schemas.openxmlformats.org/officeDocument/2006/relationships/image" Target="../media/image20.png"/><Relationship Id="rId12" Type="http://schemas.openxmlformats.org/officeDocument/2006/relationships/image" Target="../media/image21.png"/><Relationship Id="rId15" Type="http://schemas.openxmlformats.org/officeDocument/2006/relationships/image" Target="../media/image28.png"/><Relationship Id="rId14" Type="http://schemas.openxmlformats.org/officeDocument/2006/relationships/image" Target="../media/image30.png"/><Relationship Id="rId17" Type="http://schemas.openxmlformats.org/officeDocument/2006/relationships/image" Target="../media/image22.png"/><Relationship Id="rId16" Type="http://schemas.openxmlformats.org/officeDocument/2006/relationships/image" Target="../media/image25.png"/><Relationship Id="rId19" Type="http://schemas.openxmlformats.org/officeDocument/2006/relationships/image" Target="../media/image36.png"/><Relationship Id="rId1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coachingwomenofcolor.com/contact/" TargetMode="External"/><Relationship Id="rId9" Type="http://schemas.openxmlformats.org/officeDocument/2006/relationships/image" Target="../media/image53.png"/><Relationship Id="rId5" Type="http://schemas.openxmlformats.org/officeDocument/2006/relationships/image" Target="../media/image50.png"/><Relationship Id="rId6" Type="http://schemas.openxmlformats.org/officeDocument/2006/relationships/hyperlink" Target="https://coachingwomenofcolor.com" TargetMode="External"/><Relationship Id="rId7" Type="http://schemas.openxmlformats.org/officeDocument/2006/relationships/image" Target="../media/image54.png"/><Relationship Id="rId8" Type="http://schemas.openxmlformats.org/officeDocument/2006/relationships/hyperlink" Target="http://www.linkedin.com/in/wendyperdomoleadershipcoach/" TargetMode="External"/><Relationship Id="rId11" Type="http://schemas.openxmlformats.org/officeDocument/2006/relationships/image" Target="../media/image52.png"/><Relationship Id="rId10" Type="http://schemas.openxmlformats.org/officeDocument/2006/relationships/hyperlink" Target="https://www.instagram.com/coachwendyp?igsh=a3BiYmhxbmV2ejJ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894974" cy="109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349825" y="4077475"/>
            <a:ext cx="3290400" cy="5603100"/>
          </a:xfrm>
          <a:prstGeom prst="rect">
            <a:avLst/>
          </a:prstGeom>
          <a:solidFill>
            <a:srgbClr val="6962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34144" r="5795" t="0"/>
          <a:stretch/>
        </p:blipFill>
        <p:spPr>
          <a:xfrm>
            <a:off x="349825" y="519550"/>
            <a:ext cx="3290400" cy="36513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884375" y="765100"/>
            <a:ext cx="2909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 B O U T </a:t>
            </a:r>
            <a:endParaRPr b="1" i="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813475" y="1028800"/>
            <a:ext cx="34134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400">
                <a:solidFill>
                  <a:srgbClr val="5959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WENDY PERDOMO</a:t>
            </a:r>
            <a:endParaRPr b="0" i="0" sz="3400" u="none" cap="none" strike="noStrike">
              <a:solidFill>
                <a:srgbClr val="59595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861125" y="2306875"/>
            <a:ext cx="3617100" cy="7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Wendy Perdomo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the Founder and Executive Leadership &amp; Life Coach at </a:t>
            </a: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Coaching Women of Color, LLC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 premier leadership development firm dedicated to advancing the confidence, voice, and visibility of professional women of color in the workplace. With a mission to empower women to thrive in their current roles and rise into senior, executive, and C-suite leadership, Wendy brings a unique blend of strategic coaching, facilitation mastery, and deep cultural competence to every engagement.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motivational and international speaker, Wendy is passionate about igniting transformational growth, fostering resilience, and equipping leaders with the tools to lead authentically and unapologetically.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over two decades of experience in the nonprofit education sector, she is a certified executive coach and expert facilitator who has designed and led leadership programs that have supported thousands of middle, senior, and executive-level leaders across industries.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Her coaching and workshops address a wide range of leadership topics, including imposter syndrome, executive presence, team development, navigating bias and microaggressions, salary negotiations, work-life integration, and courageous communication.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Wendy holds a B.A. from Colgate University and dual master’s degrees (M.P.A. and M.S.Ed.) from Baruch College’s School of Public Affairs.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7155" l="7955" r="46664" t="41987"/>
          <a:stretch/>
        </p:blipFill>
        <p:spPr>
          <a:xfrm>
            <a:off x="413150" y="4366025"/>
            <a:ext cx="3227077" cy="511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380625" y="4455300"/>
            <a:ext cx="1547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100+</a:t>
            </a:r>
            <a:endParaRPr b="0" i="0" sz="4000" u="none" cap="none" strike="noStrik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380625" y="5604850"/>
            <a:ext cx="1547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500</a:t>
            </a:r>
            <a:r>
              <a:rPr lang="en" sz="4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</a:t>
            </a:r>
            <a:endParaRPr b="0" i="0" sz="4000" u="none" cap="none" strike="noStrik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427050" y="6843700"/>
            <a:ext cx="1547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30</a:t>
            </a:r>
            <a:endParaRPr b="0" i="0" sz="4000" u="none" cap="none" strike="noStrik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339550" y="8216475"/>
            <a:ext cx="1547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70+</a:t>
            </a:r>
            <a:endParaRPr b="0" i="0" sz="4000" u="none" cap="none" strike="noStrik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24288" l="0" r="0" t="0"/>
          <a:stretch/>
        </p:blipFill>
        <p:spPr>
          <a:xfrm>
            <a:off x="6356275" y="105700"/>
            <a:ext cx="1291526" cy="82947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37275" y="568125"/>
            <a:ext cx="81159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5959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COACHING WOMEN OF COLOR</a:t>
            </a:r>
            <a:endParaRPr b="0" i="0" sz="2400" u="none" cap="none" strike="noStrike">
              <a:solidFill>
                <a:srgbClr val="59595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68326" y="352800"/>
            <a:ext cx="2909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 B O U T </a:t>
            </a:r>
            <a:endParaRPr b="1" i="0" sz="10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68325" y="1180600"/>
            <a:ext cx="7379400" cy="1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Founded in 2017 by Wendy Perdomo, Coaching Women of Color, LLC., is dedicated to empowering professional women of color to </a:t>
            </a:r>
            <a:r>
              <a:rPr b="1" lang="en" sz="12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overcome unique challenges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1200">
                <a:solidFill>
                  <a:srgbClr val="E5418F"/>
                </a:solidFill>
                <a:latin typeface="Montserrat"/>
                <a:ea typeface="Montserrat"/>
                <a:cs typeface="Montserrat"/>
                <a:sym typeface="Montserrat"/>
              </a:rPr>
              <a:t>achieve their personal and professional goals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mission is to </a:t>
            </a: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support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women of color and professionals in </a:t>
            </a: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reclaiming their power</a:t>
            </a:r>
            <a:r>
              <a:rPr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overcoming limiting beliefs, and </a:t>
            </a:r>
            <a:r>
              <a:rPr b="1" lang="en" sz="1200">
                <a:solidFill>
                  <a:srgbClr val="E5418F"/>
                </a:solidFill>
                <a:latin typeface="Montserrat"/>
                <a:ea typeface="Montserrat"/>
                <a:cs typeface="Montserrat"/>
                <a:sym typeface="Montserrat"/>
              </a:rPr>
              <a:t>taking bold action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towards designing the life and career they desire.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E71C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envision a future where women of color are fully </a:t>
            </a:r>
            <a:r>
              <a:rPr b="1" lang="en" sz="1200">
                <a:solidFill>
                  <a:srgbClr val="6A63AC"/>
                </a:solidFill>
                <a:latin typeface="Montserrat"/>
                <a:ea typeface="Montserrat"/>
                <a:cs typeface="Montserrat"/>
                <a:sym typeface="Montserrat"/>
              </a:rPr>
              <a:t>represented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 leadership positions across all industries, living lives by design, not by default, and serving as catalysts for </a:t>
            </a:r>
            <a:r>
              <a:rPr b="1"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positive change</a:t>
            </a:r>
            <a:r>
              <a:rPr lang="en" sz="12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their communities.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1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68324" y="4397363"/>
            <a:ext cx="54708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20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UNIQUE VALUE </a:t>
            </a:r>
            <a:r>
              <a:rPr b="1" lang="en" sz="20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PROPOSITION</a:t>
            </a:r>
            <a:r>
              <a:rPr b="1" lang="en" sz="20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2000" u="none" cap="none" strike="noStrik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291925" y="5109475"/>
            <a:ext cx="547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Empower women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of color to navigate and excel in complex environments.</a:t>
            </a:r>
            <a:endParaRPr i="1"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290575" y="6038125"/>
            <a:ext cx="60093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Partner with organizations </a:t>
            </a:r>
            <a:r>
              <a:rPr lang="en" sz="13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to create environments that foster psychological safety and embrace diverse strengths and belonging.. </a:t>
            </a:r>
            <a:endParaRPr sz="13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962A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290575" y="7074825"/>
            <a:ext cx="56718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Strengthen communication 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team dynamics to improve collaboration and organizational outcomes.</a:t>
            </a:r>
            <a:endParaRPr i="1"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290575" y="8152425"/>
            <a:ext cx="5671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Provide actionable strategies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that lead to measurable career advancement and organizational impact.</a:t>
            </a:r>
            <a:endParaRPr i="1"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291925" y="9112350"/>
            <a:ext cx="61554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Foster lasting change</a:t>
            </a:r>
            <a:r>
              <a:rPr b="1" lang="en" sz="13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by embedding fairness, opportunity, and effective collaboration into the culture of leadership and team development.</a:t>
            </a:r>
            <a:endParaRPr i="1"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4">
            <a:alphaModFix/>
          </a:blip>
          <a:srcRect b="3473" l="1524" r="81837" t="42252"/>
          <a:stretch/>
        </p:blipFill>
        <p:spPr>
          <a:xfrm>
            <a:off x="107375" y="4671925"/>
            <a:ext cx="1183200" cy="54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62A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454200" y="390750"/>
            <a:ext cx="54462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 H Y   P A R T N E R   W I T H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400" y="1260700"/>
            <a:ext cx="1329874" cy="177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4">
            <a:alphaModFix/>
          </a:blip>
          <a:srcRect b="0" l="7348" r="32067" t="0"/>
          <a:stretch/>
        </p:blipFill>
        <p:spPr>
          <a:xfrm>
            <a:off x="584423" y="1260700"/>
            <a:ext cx="1074350" cy="177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8850" y="1254950"/>
            <a:ext cx="2361842" cy="17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9125" y="1260688"/>
            <a:ext cx="1329874" cy="177316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210514" y="5666835"/>
            <a:ext cx="14106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TAILORED SOLUTIONS FOR WOMEN OF COLOR</a:t>
            </a:r>
            <a:endParaRPr b="1" i="0" sz="1000" u="none" cap="none" strike="noStrike">
              <a:solidFill>
                <a:srgbClr val="6962A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1621126" y="5097500"/>
            <a:ext cx="5915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>
                <a:solidFill>
                  <a:srgbClr val="79B9E5"/>
                </a:solidFill>
                <a:latin typeface="Montserrat"/>
                <a:ea typeface="Montserrat"/>
                <a:cs typeface="Montserrat"/>
                <a:sym typeface="Montserrat"/>
              </a:rPr>
              <a:t>COLLABORATIVE PARTNERSHIPS WITH ORGANIZATIONS</a:t>
            </a:r>
            <a:endParaRPr b="1" i="0" u="none" cap="none" strike="noStrike">
              <a:solidFill>
                <a:srgbClr val="79B9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621126" y="6352625"/>
            <a:ext cx="46428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>
                <a:solidFill>
                  <a:srgbClr val="CCDD44"/>
                </a:solidFill>
                <a:latin typeface="Montserrat"/>
                <a:ea typeface="Montserrat"/>
                <a:cs typeface="Montserrat"/>
                <a:sym typeface="Montserrat"/>
              </a:rPr>
              <a:t>PROVEN RESULTS ACROSS SECTORS</a:t>
            </a:r>
            <a:endParaRPr b="1" i="0" u="none" cap="none" strike="noStrike">
              <a:solidFill>
                <a:srgbClr val="CCDD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607000" y="7432250"/>
            <a:ext cx="3908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>
                <a:solidFill>
                  <a:srgbClr val="EB1E95"/>
                </a:solidFill>
                <a:latin typeface="Montserrat"/>
                <a:ea typeface="Montserrat"/>
                <a:cs typeface="Montserrat"/>
                <a:sym typeface="Montserrat"/>
              </a:rPr>
              <a:t>CULTURALLY COMPETENT SUPPORT</a:t>
            </a:r>
            <a:endParaRPr b="1" i="0" u="none" cap="none" strike="noStrike">
              <a:solidFill>
                <a:srgbClr val="EB1E9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683195" y="8588075"/>
            <a:ext cx="46428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>
                <a:solidFill>
                  <a:srgbClr val="FACE48"/>
                </a:solidFill>
                <a:latin typeface="Montserrat"/>
                <a:ea typeface="Montserrat"/>
                <a:cs typeface="Montserrat"/>
                <a:sym typeface="Montserrat"/>
              </a:rPr>
              <a:t>EMPOWERING LEADERSHIP AND TEAMS </a:t>
            </a:r>
            <a:endParaRPr b="1" i="0" u="none" cap="none" strike="noStrike">
              <a:solidFill>
                <a:srgbClr val="FACE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621125" y="4254200"/>
            <a:ext cx="55557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provide coaching programs that address the distinct challenges women of color face in professional environments, fostering personal and organizational success.</a:t>
            </a:r>
            <a:endParaRPr b="1" i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630775" y="5320975"/>
            <a:ext cx="6126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work closely with corporate, nonprofit, and educational organizations to design and deliver customized leadership development programs. </a:t>
            </a:r>
            <a:endParaRPr b="1" i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650075" y="6595525"/>
            <a:ext cx="55557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With experience supporting leaders in diverse settings, we understand the dynamics of various industries and tailor our approach to deliver measurable outcomes. </a:t>
            </a:r>
            <a:endParaRPr b="1" i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1621125" y="7693475"/>
            <a:ext cx="55557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Our team is equipped with the expertise to provide executive coaching, ensuring our work resonates with individuals and aligns with organizational values.</a:t>
            </a:r>
            <a:endParaRPr b="1" i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1662175" y="8821875"/>
            <a:ext cx="55557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guide leaders in shaping work environments that prioritize belonging, open dialogue, and professional growth for all.</a:t>
            </a:r>
            <a:endParaRPr b="1" i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08225" y="3160325"/>
            <a:ext cx="66003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bring a unique and impactful approach to leadership development for </a:t>
            </a: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individuals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organizations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Here’s why organizations and individuals choose to partner with Coaching Women of Color: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7">
            <a:alphaModFix/>
          </a:blip>
          <a:srcRect b="43835" l="22807" r="63105" t="30548"/>
          <a:stretch/>
        </p:blipFill>
        <p:spPr>
          <a:xfrm>
            <a:off x="412975" y="4977575"/>
            <a:ext cx="1074350" cy="109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7">
            <a:alphaModFix/>
          </a:blip>
          <a:srcRect b="42583" l="42253" r="43660" t="31801"/>
          <a:stretch/>
        </p:blipFill>
        <p:spPr>
          <a:xfrm>
            <a:off x="421775" y="6257119"/>
            <a:ext cx="1074350" cy="109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7">
            <a:alphaModFix/>
          </a:blip>
          <a:srcRect b="43584" l="62115" r="23798" t="30799"/>
          <a:stretch/>
        </p:blipFill>
        <p:spPr>
          <a:xfrm>
            <a:off x="511925" y="7448360"/>
            <a:ext cx="1002101" cy="1025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 rotWithShape="1">
          <a:blip r:embed="rId7">
            <a:alphaModFix/>
          </a:blip>
          <a:srcRect b="42831" l="81414" r="4499" t="31553"/>
          <a:stretch/>
        </p:blipFill>
        <p:spPr>
          <a:xfrm>
            <a:off x="457900" y="8565697"/>
            <a:ext cx="1002101" cy="102502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530400" y="4037450"/>
            <a:ext cx="857100" cy="857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rgbClr val="6A63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1607001" y="4002163"/>
            <a:ext cx="5915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TAILORED SOLUTIONS FOR WOMEN OF COLOR</a:t>
            </a:r>
            <a:endParaRPr b="1" i="0" u="none" cap="none" strike="noStrik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21602" y="4037448"/>
            <a:ext cx="857100" cy="85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421775" y="641550"/>
            <a:ext cx="73359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COACHING WOMEN OF COLOR</a:t>
            </a:r>
            <a:endParaRPr b="0" i="0" sz="2700" u="none" cap="none" strike="noStrik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64726" l="0" r="0" t="0"/>
          <a:stretch/>
        </p:blipFill>
        <p:spPr>
          <a:xfrm>
            <a:off x="0" y="0"/>
            <a:ext cx="7772401" cy="38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3154425" y="972875"/>
            <a:ext cx="34134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5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SPEAKER</a:t>
            </a:r>
            <a:endParaRPr b="0" i="0" sz="5000" u="none" cap="none" strike="noStrik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184203" y="4173300"/>
            <a:ext cx="3702000" cy="5248800"/>
            <a:chOff x="184203" y="4428200"/>
            <a:chExt cx="3702000" cy="5248800"/>
          </a:xfrm>
        </p:grpSpPr>
        <p:sp>
          <p:nvSpPr>
            <p:cNvPr id="119" name="Google Shape;119;p17"/>
            <p:cNvSpPr txBox="1"/>
            <p:nvPr/>
          </p:nvSpPr>
          <p:spPr>
            <a:xfrm>
              <a:off x="184203" y="4428200"/>
              <a:ext cx="3702000" cy="52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Navigating Workplace Bias and Microaggressions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Personal Branding and Career Visibility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Career Transition and Pivoting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Salary Negotiation and Career Advancement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Finding and Using your Voice in the Workplace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Leadership Development and Executive Presence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01150" y="4500363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01150" y="548783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01150" y="642963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01150" y="705828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401150" y="802618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401150" y="899408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" name="Google Shape;126;p17"/>
          <p:cNvGrpSpPr/>
          <p:nvPr/>
        </p:nvGrpSpPr>
        <p:grpSpPr>
          <a:xfrm>
            <a:off x="3794100" y="4173300"/>
            <a:ext cx="3702000" cy="5248800"/>
            <a:chOff x="3794100" y="4428200"/>
            <a:chExt cx="3702000" cy="5248800"/>
          </a:xfrm>
        </p:grpSpPr>
        <p:sp>
          <p:nvSpPr>
            <p:cNvPr id="127" name="Google Shape;127;p17"/>
            <p:cNvSpPr txBox="1"/>
            <p:nvPr/>
          </p:nvSpPr>
          <p:spPr>
            <a:xfrm>
              <a:off x="3794100" y="4428200"/>
              <a:ext cx="3702000" cy="52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Effective Networking and Building Strategic Relationships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Overcoming Imposter Syndrome and Building Your Self Confidence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Creating a Professional Development Plan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Building and Leading High-Performing Teams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Self- Advocacy  in the </a:t>
              </a: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Workplace 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Creating a Psychologically</a:t>
              </a: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Safe </a:t>
              </a: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Culture for Your Team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016475" y="4500363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4016475" y="5443213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4016475" y="642963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4016475" y="737248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4016475" y="8358913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4016475" y="9001288"/>
              <a:ext cx="91575" cy="274775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570775" y="1267725"/>
            <a:ext cx="6626400" cy="315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A63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38886" r="10585" t="0"/>
          <a:stretch/>
        </p:blipFill>
        <p:spPr>
          <a:xfrm>
            <a:off x="4056327" y="5934705"/>
            <a:ext cx="3704315" cy="412373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351575" y="491934"/>
            <a:ext cx="85638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6962A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HIGHLIGHTS OF </a:t>
            </a:r>
            <a:r>
              <a:rPr lang="en" sz="2400">
                <a:solidFill>
                  <a:srgbClr val="6962A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MY VAST</a:t>
            </a:r>
            <a:r>
              <a:rPr b="0" i="0" lang="en" sz="2400" u="none" cap="none" strike="noStrike">
                <a:solidFill>
                  <a:srgbClr val="6962A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EXPERIENCE</a:t>
            </a:r>
            <a:endParaRPr b="0" i="0" sz="2400" u="none" cap="none" strike="noStrike">
              <a:solidFill>
                <a:srgbClr val="6962A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1409101" y="2945513"/>
            <a:ext cx="2045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Trauma Informed Advocate Certification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485300" y="2108525"/>
            <a:ext cx="2045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Conscious Leadership for Equity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623324" y="2172425"/>
            <a:ext cx="24978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International Coaching Federation Member Badge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813729" y="1386383"/>
            <a:ext cx="550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1200">
                <a:solidFill>
                  <a:srgbClr val="6A63AC"/>
                </a:solidFill>
                <a:latin typeface="Montserrat"/>
                <a:ea typeface="Montserrat"/>
                <a:cs typeface="Montserrat"/>
                <a:sym typeface="Montserrat"/>
              </a:rPr>
              <a:t>C E R T I F I C A T I O N S</a:t>
            </a:r>
            <a:endParaRPr b="1" i="0" sz="1200" u="none" cap="none" strike="noStrike">
              <a:solidFill>
                <a:srgbClr val="6A63A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427779" y="4573683"/>
            <a:ext cx="550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1200">
                <a:solidFill>
                  <a:srgbClr val="6A63AC"/>
                </a:solidFill>
                <a:latin typeface="Montserrat"/>
                <a:ea typeface="Montserrat"/>
                <a:cs typeface="Montserrat"/>
                <a:sym typeface="Montserrat"/>
              </a:rPr>
              <a:t>C O N S U L T I N G </a:t>
            </a:r>
            <a:endParaRPr b="1" i="0" sz="1200" u="none" cap="none" strike="noStrike">
              <a:solidFill>
                <a:srgbClr val="6A63A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70775" y="51779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770925" y="5101725"/>
            <a:ext cx="45909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Women of Color in Pharmaceutical (WOCIP)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Montserrat"/>
                <a:ea typeface="Montserrat"/>
                <a:cs typeface="Montserrat"/>
                <a:sym typeface="Montserrat"/>
              </a:rPr>
              <a:t>Lead Facilitator Global </a:t>
            </a:r>
            <a:r>
              <a:rPr i="1" lang="en" sz="1100">
                <a:latin typeface="Montserrat"/>
                <a:ea typeface="Montserrat"/>
                <a:cs typeface="Montserrat"/>
                <a:sym typeface="Montserrat"/>
              </a:rPr>
              <a:t>Accelerator</a:t>
            </a:r>
            <a:r>
              <a:rPr i="1" lang="en" sz="1100">
                <a:latin typeface="Montserrat"/>
                <a:ea typeface="Montserrat"/>
                <a:cs typeface="Montserrat"/>
                <a:sym typeface="Montserrat"/>
              </a:rPr>
              <a:t> Program</a:t>
            </a:r>
            <a:endParaRPr b="0" i="1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70775" y="57875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70925" y="5711325"/>
            <a:ext cx="45909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Surge Institute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Executive Coach &amp; Instructor</a:t>
            </a:r>
            <a:endParaRPr b="0" i="1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70775" y="63971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70925" y="6320925"/>
            <a:ext cx="45909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Urban Resource Institute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Keynote Speaker &amp; Executive Coaching </a:t>
            </a:r>
            <a:endParaRPr b="0" i="1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70775" y="70067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70925" y="6930525"/>
            <a:ext cx="41673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University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 of Michigan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Executive Coach for Group Coaching Program</a:t>
            </a:r>
            <a:endParaRPr i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70775" y="76163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70925" y="7540125"/>
            <a:ext cx="42699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Developing Capacity Coaching, LLC,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Coach</a:t>
            </a: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Affiliate</a:t>
            </a:r>
            <a:endParaRPr b="0" i="1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0775" y="83021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70925" y="8225925"/>
            <a:ext cx="45909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NJ Arts and Cultural Renewal Fund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Montserrat"/>
                <a:ea typeface="Montserrat"/>
                <a:cs typeface="Montserrat"/>
                <a:sym typeface="Montserrat"/>
              </a:rPr>
              <a:t>Strategist and Lead Facilitator</a:t>
            </a:r>
            <a:endParaRPr b="0" i="1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70775" y="89879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70925" y="8911725"/>
            <a:ext cx="32853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International Coaching Leadership Institute Rising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Montserrat"/>
                <a:ea typeface="Montserrat"/>
                <a:cs typeface="Montserrat"/>
                <a:sym typeface="Montserrat"/>
              </a:rPr>
              <a:t>Instructor</a:t>
            </a:r>
            <a:endParaRPr b="0" i="1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4">
            <a:alphaModFix/>
          </a:blip>
          <a:srcRect b="18809" l="23523" r="11638" t="16352"/>
          <a:stretch/>
        </p:blipFill>
        <p:spPr>
          <a:xfrm>
            <a:off x="734750" y="2011950"/>
            <a:ext cx="774600" cy="7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925" y="2926925"/>
            <a:ext cx="676400" cy="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4825" y="2040475"/>
            <a:ext cx="1038500" cy="10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9999" y="3003126"/>
            <a:ext cx="2009119" cy="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16025" y="3615600"/>
            <a:ext cx="2255803" cy="6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445325" y="554425"/>
            <a:ext cx="6019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6962A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TRANSFORMING LEADERS FROM</a:t>
            </a:r>
            <a:endParaRPr i="0" sz="2400" u="none" cap="none" strike="noStrike">
              <a:solidFill>
                <a:srgbClr val="6962A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19427" r="20573" t="0"/>
          <a:stretch/>
        </p:blipFill>
        <p:spPr>
          <a:xfrm>
            <a:off x="3457802" y="1411488"/>
            <a:ext cx="980800" cy="998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 rotWithShape="1">
          <a:blip r:embed="rId4">
            <a:alphaModFix/>
          </a:blip>
          <a:srcRect b="26719" l="11937" r="12511" t="25025"/>
          <a:stretch/>
        </p:blipFill>
        <p:spPr>
          <a:xfrm>
            <a:off x="149151" y="1353286"/>
            <a:ext cx="1526669" cy="10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9904" y="1398425"/>
            <a:ext cx="1063625" cy="103794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6220575" y="2177198"/>
            <a:ext cx="1523910" cy="1523910"/>
          </a:xfrm>
          <a:custGeom>
            <a:rect b="b" l="l" r="r" t="t"/>
            <a:pathLst>
              <a:path extrusionOk="0" h="2488017" w="2488017">
                <a:moveTo>
                  <a:pt x="0" y="0"/>
                </a:moveTo>
                <a:lnTo>
                  <a:pt x="2488017" y="0"/>
                </a:lnTo>
                <a:lnTo>
                  <a:pt x="2488017" y="2488018"/>
                </a:lnTo>
                <a:lnTo>
                  <a:pt x="0" y="24880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9"/>
          <p:cNvSpPr/>
          <p:nvPr/>
        </p:nvSpPr>
        <p:spPr>
          <a:xfrm>
            <a:off x="1868272" y="2800975"/>
            <a:ext cx="1182137" cy="1065649"/>
          </a:xfrm>
          <a:custGeom>
            <a:rect b="b" l="l" r="r" t="t"/>
            <a:pathLst>
              <a:path extrusionOk="0" h="1725748" w="1725748">
                <a:moveTo>
                  <a:pt x="0" y="0"/>
                </a:moveTo>
                <a:lnTo>
                  <a:pt x="1725748" y="0"/>
                </a:lnTo>
                <a:lnTo>
                  <a:pt x="1725748" y="1725748"/>
                </a:lnTo>
                <a:lnTo>
                  <a:pt x="0" y="1725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9"/>
          <p:cNvSpPr/>
          <p:nvPr/>
        </p:nvSpPr>
        <p:spPr>
          <a:xfrm>
            <a:off x="3457800" y="4250550"/>
            <a:ext cx="1317603" cy="913896"/>
          </a:xfrm>
          <a:custGeom>
            <a:rect b="b" l="l" r="r" t="t"/>
            <a:pathLst>
              <a:path extrusionOk="0" h="1894086" w="2497826">
                <a:moveTo>
                  <a:pt x="0" y="0"/>
                </a:moveTo>
                <a:lnTo>
                  <a:pt x="2497825" y="0"/>
                </a:lnTo>
                <a:lnTo>
                  <a:pt x="2497825" y="1894086"/>
                </a:lnTo>
                <a:lnTo>
                  <a:pt x="0" y="18940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9"/>
          <p:cNvSpPr/>
          <p:nvPr/>
        </p:nvSpPr>
        <p:spPr>
          <a:xfrm>
            <a:off x="248350" y="2736400"/>
            <a:ext cx="1494815" cy="1263070"/>
          </a:xfrm>
          <a:custGeom>
            <a:rect b="b" l="l" r="r" t="t"/>
            <a:pathLst>
              <a:path extrusionOk="0" h="2501128" w="2657449">
                <a:moveTo>
                  <a:pt x="0" y="0"/>
                </a:moveTo>
                <a:lnTo>
                  <a:pt x="2657449" y="0"/>
                </a:lnTo>
                <a:lnTo>
                  <a:pt x="2657449" y="2501128"/>
                </a:lnTo>
                <a:lnTo>
                  <a:pt x="0" y="2501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9"/>
          <p:cNvSpPr/>
          <p:nvPr/>
        </p:nvSpPr>
        <p:spPr>
          <a:xfrm>
            <a:off x="3378590" y="2787740"/>
            <a:ext cx="1527122" cy="875033"/>
          </a:xfrm>
          <a:custGeom>
            <a:rect b="b" l="l" r="r" t="t"/>
            <a:pathLst>
              <a:path extrusionOk="0" h="1310911" w="2483125">
                <a:moveTo>
                  <a:pt x="0" y="0"/>
                </a:moveTo>
                <a:lnTo>
                  <a:pt x="2483125" y="0"/>
                </a:lnTo>
                <a:lnTo>
                  <a:pt x="2483125" y="1310912"/>
                </a:lnTo>
                <a:lnTo>
                  <a:pt x="0" y="1310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9"/>
          <p:cNvSpPr/>
          <p:nvPr/>
        </p:nvSpPr>
        <p:spPr>
          <a:xfrm>
            <a:off x="2443275" y="7720578"/>
            <a:ext cx="2197746" cy="634955"/>
          </a:xfrm>
          <a:custGeom>
            <a:rect b="b" l="l" r="r" t="t"/>
            <a:pathLst>
              <a:path extrusionOk="0" h="992117" w="4485196">
                <a:moveTo>
                  <a:pt x="0" y="0"/>
                </a:moveTo>
                <a:lnTo>
                  <a:pt x="4485196" y="0"/>
                </a:lnTo>
                <a:lnTo>
                  <a:pt x="4485196" y="992117"/>
                </a:lnTo>
                <a:lnTo>
                  <a:pt x="0" y="992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9"/>
          <p:cNvSpPr/>
          <p:nvPr/>
        </p:nvSpPr>
        <p:spPr>
          <a:xfrm>
            <a:off x="6220563" y="4214160"/>
            <a:ext cx="1182628" cy="835724"/>
          </a:xfrm>
          <a:custGeom>
            <a:rect b="b" l="l" r="r" t="t"/>
            <a:pathLst>
              <a:path extrusionOk="0" h="1714305" w="2425903">
                <a:moveTo>
                  <a:pt x="0" y="0"/>
                </a:moveTo>
                <a:lnTo>
                  <a:pt x="2425903" y="0"/>
                </a:lnTo>
                <a:lnTo>
                  <a:pt x="2425903" y="1714305"/>
                </a:lnTo>
                <a:lnTo>
                  <a:pt x="0" y="1714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0" name="Google Shape;180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09544" y="9104662"/>
            <a:ext cx="2926019" cy="4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5334163" y="8689500"/>
            <a:ext cx="1526533" cy="1339976"/>
          </a:xfrm>
          <a:custGeom>
            <a:rect b="b" l="l" r="r" t="t"/>
            <a:pathLst>
              <a:path extrusionOk="0" h="2261563" w="2432722">
                <a:moveTo>
                  <a:pt x="0" y="0"/>
                </a:moveTo>
                <a:lnTo>
                  <a:pt x="2432722" y="0"/>
                </a:lnTo>
                <a:lnTo>
                  <a:pt x="2432722" y="2261563"/>
                </a:lnTo>
                <a:lnTo>
                  <a:pt x="0" y="2261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-3789" l="0" r="0" t="-3778"/>
            </a:stretch>
          </a:blipFill>
          <a:ln>
            <a:noFill/>
          </a:ln>
        </p:spPr>
      </p:sp>
      <p:sp>
        <p:nvSpPr>
          <p:cNvPr id="182" name="Google Shape;182;p19"/>
          <p:cNvSpPr/>
          <p:nvPr/>
        </p:nvSpPr>
        <p:spPr>
          <a:xfrm>
            <a:off x="2867049" y="6992928"/>
            <a:ext cx="2390200" cy="448609"/>
          </a:xfrm>
          <a:custGeom>
            <a:rect b="b" l="l" r="r" t="t"/>
            <a:pathLst>
              <a:path extrusionOk="0" h="571476" w="4000335">
                <a:moveTo>
                  <a:pt x="0" y="0"/>
                </a:moveTo>
                <a:lnTo>
                  <a:pt x="4000335" y="0"/>
                </a:lnTo>
                <a:lnTo>
                  <a:pt x="4000335" y="571476"/>
                </a:lnTo>
                <a:lnTo>
                  <a:pt x="0" y="571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9"/>
          <p:cNvSpPr/>
          <p:nvPr/>
        </p:nvSpPr>
        <p:spPr>
          <a:xfrm>
            <a:off x="381650" y="4242388"/>
            <a:ext cx="1061663" cy="978652"/>
          </a:xfrm>
          <a:custGeom>
            <a:rect b="b" l="l" r="r" t="t"/>
            <a:pathLst>
              <a:path extrusionOk="0" h="1644793" w="1747593">
                <a:moveTo>
                  <a:pt x="0" y="0"/>
                </a:moveTo>
                <a:lnTo>
                  <a:pt x="1747593" y="0"/>
                </a:lnTo>
                <a:lnTo>
                  <a:pt x="1747593" y="1644793"/>
                </a:lnTo>
                <a:lnTo>
                  <a:pt x="0" y="1644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9"/>
          <p:cNvSpPr/>
          <p:nvPr/>
        </p:nvSpPr>
        <p:spPr>
          <a:xfrm>
            <a:off x="4564275" y="1518450"/>
            <a:ext cx="1689915" cy="784965"/>
          </a:xfrm>
          <a:custGeom>
            <a:rect b="b" l="l" r="r" t="t"/>
            <a:pathLst>
              <a:path extrusionOk="0" h="1341821" w="2747829">
                <a:moveTo>
                  <a:pt x="0" y="0"/>
                </a:moveTo>
                <a:lnTo>
                  <a:pt x="2747829" y="0"/>
                </a:lnTo>
                <a:lnTo>
                  <a:pt x="2747829" y="1341821"/>
                </a:lnTo>
                <a:lnTo>
                  <a:pt x="0" y="13418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9"/>
          <p:cNvSpPr/>
          <p:nvPr/>
        </p:nvSpPr>
        <p:spPr>
          <a:xfrm>
            <a:off x="429051" y="6846025"/>
            <a:ext cx="1919170" cy="658532"/>
          </a:xfrm>
          <a:custGeom>
            <a:rect b="b" l="l" r="r" t="t"/>
            <a:pathLst>
              <a:path extrusionOk="0" h="1202798" w="4083340">
                <a:moveTo>
                  <a:pt x="0" y="0"/>
                </a:moveTo>
                <a:lnTo>
                  <a:pt x="4083341" y="0"/>
                </a:lnTo>
                <a:lnTo>
                  <a:pt x="4083341" y="1202798"/>
                </a:lnTo>
                <a:lnTo>
                  <a:pt x="0" y="1202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-3219" l="-3799" r="0" t="-3219"/>
            </a:stretch>
          </a:blipFill>
          <a:ln>
            <a:noFill/>
          </a:ln>
        </p:spPr>
      </p:sp>
      <p:sp>
        <p:nvSpPr>
          <p:cNvPr id="186" name="Google Shape;186;p19"/>
          <p:cNvSpPr/>
          <p:nvPr/>
        </p:nvSpPr>
        <p:spPr>
          <a:xfrm>
            <a:off x="543550" y="5690737"/>
            <a:ext cx="1690184" cy="685595"/>
          </a:xfrm>
          <a:custGeom>
            <a:rect b="b" l="l" r="r" t="t"/>
            <a:pathLst>
              <a:path extrusionOk="0" h="1202798" w="3234801">
                <a:moveTo>
                  <a:pt x="0" y="0"/>
                </a:moveTo>
                <a:lnTo>
                  <a:pt x="3234801" y="0"/>
                </a:lnTo>
                <a:lnTo>
                  <a:pt x="3234801" y="1202798"/>
                </a:lnTo>
                <a:lnTo>
                  <a:pt x="0" y="1202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-4259" l="-2029" r="0" t="-4259"/>
            </a:stretch>
          </a:blipFill>
          <a:ln>
            <a:noFill/>
          </a:ln>
        </p:spPr>
      </p:sp>
      <p:sp>
        <p:nvSpPr>
          <p:cNvPr id="187" name="Google Shape;187;p19"/>
          <p:cNvSpPr/>
          <p:nvPr/>
        </p:nvSpPr>
        <p:spPr>
          <a:xfrm>
            <a:off x="1828517" y="4285482"/>
            <a:ext cx="1526384" cy="915442"/>
          </a:xfrm>
          <a:custGeom>
            <a:rect b="b" l="l" r="r" t="t"/>
            <a:pathLst>
              <a:path extrusionOk="0" h="1470589" w="2452023">
                <a:moveTo>
                  <a:pt x="0" y="0"/>
                </a:moveTo>
                <a:lnTo>
                  <a:pt x="2452023" y="0"/>
                </a:lnTo>
                <a:lnTo>
                  <a:pt x="2452023" y="1470589"/>
                </a:lnTo>
                <a:lnTo>
                  <a:pt x="0" y="1470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-4839" l="-329" r="0" t="-4849"/>
            </a:stretch>
          </a:blipFill>
          <a:ln>
            <a:noFill/>
          </a:ln>
        </p:spPr>
      </p:sp>
      <p:sp>
        <p:nvSpPr>
          <p:cNvPr id="188" name="Google Shape;188;p19"/>
          <p:cNvSpPr/>
          <p:nvPr/>
        </p:nvSpPr>
        <p:spPr>
          <a:xfrm>
            <a:off x="329475" y="7720200"/>
            <a:ext cx="1497943" cy="895829"/>
          </a:xfrm>
          <a:custGeom>
            <a:rect b="b" l="l" r="r" t="t"/>
            <a:pathLst>
              <a:path extrusionOk="0" h="1468572" w="2202857">
                <a:moveTo>
                  <a:pt x="0" y="0"/>
                </a:moveTo>
                <a:lnTo>
                  <a:pt x="2202858" y="0"/>
                </a:lnTo>
                <a:lnTo>
                  <a:pt x="2202858" y="1468572"/>
                </a:lnTo>
                <a:lnTo>
                  <a:pt x="0" y="1468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5586525" y="6484201"/>
            <a:ext cx="1184102" cy="1000649"/>
          </a:xfrm>
          <a:custGeom>
            <a:rect b="b" l="l" r="r" t="t"/>
            <a:pathLst>
              <a:path extrusionOk="0" h="1667749" w="1667749">
                <a:moveTo>
                  <a:pt x="0" y="0"/>
                </a:moveTo>
                <a:lnTo>
                  <a:pt x="1667748" y="0"/>
                </a:lnTo>
                <a:lnTo>
                  <a:pt x="1667748" y="1667749"/>
                </a:lnTo>
                <a:lnTo>
                  <a:pt x="0" y="1667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9"/>
          <p:cNvSpPr/>
          <p:nvPr/>
        </p:nvSpPr>
        <p:spPr>
          <a:xfrm>
            <a:off x="4148851" y="5734492"/>
            <a:ext cx="1739432" cy="480686"/>
          </a:xfrm>
          <a:custGeom>
            <a:rect b="b" l="l" r="r" t="t"/>
            <a:pathLst>
              <a:path extrusionOk="0" h="1056453" w="3822927">
                <a:moveTo>
                  <a:pt x="0" y="0"/>
                </a:moveTo>
                <a:lnTo>
                  <a:pt x="3822927" y="0"/>
                </a:lnTo>
                <a:lnTo>
                  <a:pt x="3822927" y="1056453"/>
                </a:lnTo>
                <a:lnTo>
                  <a:pt x="0" y="1056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9"/>
          <p:cNvSpPr/>
          <p:nvPr/>
        </p:nvSpPr>
        <p:spPr>
          <a:xfrm>
            <a:off x="329474" y="9117775"/>
            <a:ext cx="1758364" cy="633960"/>
          </a:xfrm>
          <a:custGeom>
            <a:rect b="b" l="l" r="r" t="t"/>
            <a:pathLst>
              <a:path extrusionOk="0" h="986708" w="2530020">
                <a:moveTo>
                  <a:pt x="0" y="0"/>
                </a:moveTo>
                <a:lnTo>
                  <a:pt x="2530020" y="0"/>
                </a:lnTo>
                <a:lnTo>
                  <a:pt x="2530020" y="986708"/>
                </a:lnTo>
                <a:lnTo>
                  <a:pt x="0" y="986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2" name="Google Shape;192;p1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334164" y="7573657"/>
            <a:ext cx="1688800" cy="928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860801" y="3987061"/>
            <a:ext cx="1184100" cy="947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 rotWithShape="1">
          <a:blip r:embed="rId27">
            <a:alphaModFix/>
          </a:blip>
          <a:srcRect b="35393" l="-22921" r="-15910" t="18766"/>
          <a:stretch/>
        </p:blipFill>
        <p:spPr>
          <a:xfrm>
            <a:off x="4471788" y="2549844"/>
            <a:ext cx="1922975" cy="63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 rotWithShape="1">
          <a:blip r:embed="rId28">
            <a:alphaModFix/>
          </a:blip>
          <a:srcRect b="34362" l="0" r="0" t="25750"/>
          <a:stretch/>
        </p:blipFill>
        <p:spPr>
          <a:xfrm>
            <a:off x="4984218" y="3268447"/>
            <a:ext cx="2388695" cy="63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617875" y="5485162"/>
            <a:ext cx="979350" cy="9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6335645" y="5161133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987700" y="532925"/>
            <a:ext cx="1758375" cy="8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>
            <a:off x="-145150" y="1554400"/>
            <a:ext cx="7944900" cy="4094100"/>
          </a:xfrm>
          <a:prstGeom prst="rect">
            <a:avLst/>
          </a:prstGeom>
          <a:solidFill>
            <a:srgbClr val="6A63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3352350" y="1881675"/>
            <a:ext cx="40032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Wendy facilitated a board retreat for us. She is a brilliant facilitator whose </a:t>
            </a:r>
            <a:r>
              <a:rPr b="1" i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empathetic approach builds trust </a:t>
            </a:r>
            <a:r>
              <a:rPr i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quickly. Wendy’s superpower is the speed with which she is able to assess needs, navigate dynamics, and coalesce groups around shared goals. We were extremely pleased with the </a:t>
            </a:r>
            <a:r>
              <a:rPr b="1" i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quality</a:t>
            </a:r>
            <a:r>
              <a:rPr i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clarity</a:t>
            </a:r>
            <a:r>
              <a:rPr i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of Wendy’s preparation, delivery, and follow up. She is in a class by herself! I would recommend her without hesitation. </a:t>
            </a:r>
            <a:endParaRPr i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25" y="2480100"/>
            <a:ext cx="2203500" cy="2203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334525" y="485575"/>
            <a:ext cx="52407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1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Client</a:t>
            </a:r>
            <a:r>
              <a:rPr b="1" i="0" lang="en" sz="31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31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3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TESTIMONIAL</a:t>
            </a:r>
            <a:endParaRPr b="0" i="0" sz="21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-116651" y="1848966"/>
            <a:ext cx="3114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LYNNE TOYE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Jersey</a:t>
            </a:r>
            <a:endParaRPr b="1"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8861" y="4748625"/>
            <a:ext cx="31149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Executive Director</a:t>
            </a:r>
            <a:r>
              <a:rPr lang="en" sz="1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NJ Arts &amp; Cultural Renewal Fund</a:t>
            </a:r>
            <a:endParaRPr b="0" i="0" sz="1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4">
            <a:alphaModFix/>
          </a:blip>
          <a:srcRect b="23195" l="34612" r="33739" t="19895"/>
          <a:stretch/>
        </p:blipFill>
        <p:spPr>
          <a:xfrm>
            <a:off x="4638812" y="6624025"/>
            <a:ext cx="2470978" cy="244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4332528" y="9104775"/>
            <a:ext cx="31149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600">
                <a:solidFill>
                  <a:srgbClr val="6A63A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CEO, Monique Burr Foundation for Children</a:t>
            </a:r>
            <a:endParaRPr b="0" i="0" sz="1600" u="none" cap="none" strike="noStrike">
              <a:solidFill>
                <a:srgbClr val="6A63A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316849" y="6132966"/>
            <a:ext cx="3114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2000">
                <a:solidFill>
                  <a:srgbClr val="6A63AC"/>
                </a:solidFill>
                <a:latin typeface="Montserrat"/>
                <a:ea typeface="Montserrat"/>
                <a:cs typeface="Montserrat"/>
                <a:sym typeface="Montserrat"/>
              </a:rPr>
              <a:t>TANYA RAMOS-PUIG</a:t>
            </a:r>
            <a:endParaRPr b="1" sz="2000">
              <a:solidFill>
                <a:srgbClr val="6A63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6A63AC"/>
                </a:solidFill>
                <a:latin typeface="Montserrat"/>
                <a:ea typeface="Montserrat"/>
                <a:cs typeface="Montserrat"/>
                <a:sym typeface="Montserrat"/>
              </a:rPr>
              <a:t>Jacksonville, Florida</a:t>
            </a:r>
            <a:endParaRPr b="1" sz="2000">
              <a:solidFill>
                <a:srgbClr val="6A63A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237450" y="6013263"/>
            <a:ext cx="40032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It has been both an honor and privilege to work with Wendy. I have left all our interactions inspired and excited for what is yet to come. </a:t>
            </a:r>
            <a:r>
              <a:rPr b="1" i="1" lang="en" sz="16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Wendy is a thoughtful leader who truly cares about supporting and developing her team, her colleagues, her clients and any organization that she serves,</a:t>
            </a:r>
            <a:r>
              <a:rPr i="1" lang="en" sz="16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 She is a high impact leader who </a:t>
            </a:r>
            <a:r>
              <a:rPr b="1" i="1" lang="en" sz="16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authentically mentors and coaches</a:t>
            </a:r>
            <a:r>
              <a:rPr i="1" lang="en" sz="16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. I can not recommend her enough!</a:t>
            </a:r>
            <a:endParaRPr sz="1600"/>
          </a:p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title="Non-profit Impact Report Document (1).png"/>
          <p:cNvPicPr preferRelativeResize="0"/>
          <p:nvPr/>
        </p:nvPicPr>
        <p:blipFill rotWithShape="1">
          <a:blip r:embed="rId3">
            <a:alphaModFix/>
          </a:blip>
          <a:srcRect b="20603" l="0" r="0" t="0"/>
          <a:stretch/>
        </p:blipFill>
        <p:spPr>
          <a:xfrm>
            <a:off x="0" y="457200"/>
            <a:ext cx="7772401" cy="96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/>
          <p:nvPr/>
        </p:nvSpPr>
        <p:spPr>
          <a:xfrm>
            <a:off x="-18300" y="-58575"/>
            <a:ext cx="7809000" cy="2233200"/>
          </a:xfrm>
          <a:prstGeom prst="rect">
            <a:avLst/>
          </a:prstGeom>
          <a:solidFill>
            <a:srgbClr val="6962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387450" y="676400"/>
            <a:ext cx="56253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3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Audience</a:t>
            </a:r>
            <a:r>
              <a:rPr b="1" i="0" lang="en" sz="3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3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3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IMPACT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79100" y="2949875"/>
            <a:ext cx="338100" cy="322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63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21"/>
          <p:cNvCxnSpPr/>
          <p:nvPr/>
        </p:nvCxnSpPr>
        <p:spPr>
          <a:xfrm>
            <a:off x="479100" y="3491850"/>
            <a:ext cx="6522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1"/>
          <p:cNvSpPr txBox="1"/>
          <p:nvPr/>
        </p:nvSpPr>
        <p:spPr>
          <a:xfrm>
            <a:off x="959225" y="2934125"/>
            <a:ext cx="581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speaker Ms. Perdomo was awesome.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65650" y="3803275"/>
            <a:ext cx="338100" cy="322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63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21"/>
          <p:cNvCxnSpPr/>
          <p:nvPr/>
        </p:nvCxnSpPr>
        <p:spPr>
          <a:xfrm>
            <a:off x="465650" y="4497650"/>
            <a:ext cx="6522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1"/>
          <p:cNvSpPr txBox="1"/>
          <p:nvPr/>
        </p:nvSpPr>
        <p:spPr>
          <a:xfrm>
            <a:off x="945775" y="3711325"/>
            <a:ext cx="612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enjoyed Wendy's talk—great guidance and encouragement to us as leaders.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79100" y="4820175"/>
            <a:ext cx="338100" cy="322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63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1"/>
          <p:cNvCxnSpPr/>
          <p:nvPr/>
        </p:nvCxnSpPr>
        <p:spPr>
          <a:xfrm>
            <a:off x="479100" y="5438350"/>
            <a:ext cx="6522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1"/>
          <p:cNvSpPr txBox="1"/>
          <p:nvPr/>
        </p:nvSpPr>
        <p:spPr>
          <a:xfrm>
            <a:off x="1002325" y="4557900"/>
            <a:ext cx="640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had an incredible message to share and I’m so glad to have had the privilege to hear you today. Thank you for your time and for your inspiration.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79100" y="5820850"/>
            <a:ext cx="338100" cy="322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63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21"/>
          <p:cNvCxnSpPr/>
          <p:nvPr/>
        </p:nvCxnSpPr>
        <p:spPr>
          <a:xfrm>
            <a:off x="479100" y="6362825"/>
            <a:ext cx="6522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1"/>
          <p:cNvSpPr txBox="1"/>
          <p:nvPr/>
        </p:nvSpPr>
        <p:spPr>
          <a:xfrm>
            <a:off x="945775" y="5650625"/>
            <a:ext cx="652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Great job Wendy…loved your presentation and passion.  I'm already receiving messages from the participants…that they loved it! Thank you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79100" y="6759100"/>
            <a:ext cx="338100" cy="322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63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21"/>
          <p:cNvCxnSpPr/>
          <p:nvPr/>
        </p:nvCxnSpPr>
        <p:spPr>
          <a:xfrm>
            <a:off x="479100" y="7377275"/>
            <a:ext cx="6522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1"/>
          <p:cNvSpPr txBox="1"/>
          <p:nvPr/>
        </p:nvSpPr>
        <p:spPr>
          <a:xfrm>
            <a:off x="959225" y="6567800"/>
            <a:ext cx="612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Wendy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invigorating.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enjoyed the guest speaker. She was great!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79100" y="7757325"/>
            <a:ext cx="338100" cy="322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63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21"/>
          <p:cNvCxnSpPr/>
          <p:nvPr/>
        </p:nvCxnSpPr>
        <p:spPr>
          <a:xfrm>
            <a:off x="479100" y="8451700"/>
            <a:ext cx="6522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1"/>
          <p:cNvSpPr txBox="1"/>
          <p:nvPr/>
        </p:nvSpPr>
        <p:spPr>
          <a:xfrm>
            <a:off x="959225" y="7589175"/>
            <a:ext cx="612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Wendy touched on a lot of things that can be shared and implemented.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15038" y="8777150"/>
            <a:ext cx="338100" cy="322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63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21"/>
          <p:cNvCxnSpPr/>
          <p:nvPr/>
        </p:nvCxnSpPr>
        <p:spPr>
          <a:xfrm>
            <a:off x="515038" y="9395325"/>
            <a:ext cx="6522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1"/>
          <p:cNvSpPr txBox="1"/>
          <p:nvPr/>
        </p:nvSpPr>
        <p:spPr>
          <a:xfrm>
            <a:off x="945775" y="8513413"/>
            <a:ext cx="697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Wendy is a breath of fresh air and a masterful storyteller— and someone who speaks with warmth, authenticity, and clarity. I’m truly grateful that God, life, and the universe aligned to connect me with Wendy.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/>
          <p:nvPr/>
        </p:nvSpPr>
        <p:spPr>
          <a:xfrm>
            <a:off x="0" y="0"/>
            <a:ext cx="7772400" cy="1490700"/>
          </a:xfrm>
          <a:prstGeom prst="rect">
            <a:avLst/>
          </a:prstGeom>
          <a:solidFill>
            <a:srgbClr val="6962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234350" y="440275"/>
            <a:ext cx="53037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SERVICES OFFERED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7765" r="3683" t="0"/>
          <a:stretch/>
        </p:blipFill>
        <p:spPr>
          <a:xfrm>
            <a:off x="483000" y="1613920"/>
            <a:ext cx="2466826" cy="278564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391425" y="4631050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391425" y="5491525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391425" y="6375213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391425" y="7419313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391425" y="8324663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79600" y="4522900"/>
            <a:ext cx="679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KEYNOTE PRESENTATIONS</a:t>
            </a:r>
            <a:r>
              <a:rPr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Thought-provoking conversations that inspire and challenge audiences to embrace their leadership potential, overcome barriers, and cultivate confidence in their personal and professional lives.</a:t>
            </a:r>
            <a:endParaRPr i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3218025" y="2029525"/>
            <a:ext cx="4256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 an Executive Leadership and Life Coach, I offer transformative experiences designed to inspire, educate, and drive meaningful change.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My services provide actionable strategies, deep insights, and an engaging approach that fosters leadership growth, personal development, and organizational success.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732600" y="5383375"/>
            <a:ext cx="679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WORKSHOPS AND TRAININGS</a:t>
            </a:r>
            <a:r>
              <a:rPr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Interactive sessions tailored to equip professionals with leadership skills, emotional intelligence, executive presence, and personal development strategies to thrive in their careers and organizations.</a:t>
            </a:r>
            <a:endParaRPr i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732600" y="6190850"/>
            <a:ext cx="664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PANELS AND MODERATED DISCUSSIONS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Engaging and insightful panel contributions or expert moderation of discussions on leadership, workplace equity, career growth, and personal empowerment for women of color and diverse professionals.</a:t>
            </a:r>
            <a:endParaRPr i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32600" y="7250313"/>
            <a:ext cx="664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CUSTOMIZED PROGRAMS</a:t>
            </a: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Coaching and 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development programs designed to meet the unique needs of individuals, teams, or organizations, focusing on leadership advancement, diversity and inclusion, and career strategy.</a:t>
            </a:r>
            <a:endParaRPr i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751950" y="8157388"/>
            <a:ext cx="664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GROUP COACHING</a:t>
            </a: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supportive and empowering coaching experience for women of color professionals, designed to foster leadership confidence, career acceleration, and personal breakthroughs in a shared, community-driven environment.</a:t>
            </a:r>
            <a:endParaRPr i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95275" y="9305588"/>
            <a:ext cx="91575" cy="27477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55800" y="9214513"/>
            <a:ext cx="664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LEADERSHIP RETREATS</a:t>
            </a:r>
            <a:r>
              <a:rPr b="1" lang="en" sz="1200">
                <a:solidFill>
                  <a:srgbClr val="6962A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Transformational in-person or virtual retreats designed to help leaders recharge, reflect, and build the skills necessary to lead with authenticity, resilience, and purpose.</a:t>
            </a:r>
            <a:endParaRPr i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63AC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/>
          <p:nvPr/>
        </p:nvSpPr>
        <p:spPr>
          <a:xfrm rot="-5400000">
            <a:off x="2673950" y="4581300"/>
            <a:ext cx="838300" cy="6178750"/>
          </a:xfrm>
          <a:prstGeom prst="flowChartOffpageConnec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 rot="-5400000">
            <a:off x="2673950" y="3426638"/>
            <a:ext cx="838300" cy="6178750"/>
          </a:xfrm>
          <a:prstGeom prst="flowChartOffpageConnec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0" y="0"/>
            <a:ext cx="7772400" cy="18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2081700" y="220200"/>
            <a:ext cx="53037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6A63AC"/>
                </a:solidFill>
                <a:latin typeface="Montserrat"/>
                <a:ea typeface="Montserrat"/>
                <a:cs typeface="Montserrat"/>
                <a:sym typeface="Montserrat"/>
              </a:rPr>
              <a:t>LET’S WORK TOGETHER</a:t>
            </a:r>
            <a:endParaRPr b="1" sz="4200">
              <a:solidFill>
                <a:srgbClr val="6A63A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9" name="Google Shape;269;p23"/>
          <p:cNvPicPr preferRelativeResize="0"/>
          <p:nvPr/>
        </p:nvPicPr>
        <p:blipFill rotWithShape="1">
          <a:blip r:embed="rId3">
            <a:alphaModFix/>
          </a:blip>
          <a:srcRect b="24288" l="0" r="0" t="0"/>
          <a:stretch/>
        </p:blipFill>
        <p:spPr>
          <a:xfrm>
            <a:off x="386024" y="220201"/>
            <a:ext cx="2042527" cy="13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352700" y="2457875"/>
            <a:ext cx="6433500" cy="18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Let’s work together to create lasting change. Whether it's a </a:t>
            </a:r>
            <a:r>
              <a:rPr b="1" lang="en" sz="1900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keynote, panel discussion, workshop, or corporate event,</a:t>
            </a:r>
            <a:r>
              <a:rPr lang="en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 bring actionable insights, powerful storytelling, and a passion for driving meaningful change for individuals and organizations. </a:t>
            </a:r>
            <a:endParaRPr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3"/>
          <p:cNvSpPr/>
          <p:nvPr/>
        </p:nvSpPr>
        <p:spPr>
          <a:xfrm rot="-5400000">
            <a:off x="2670225" y="2281425"/>
            <a:ext cx="838300" cy="6178750"/>
          </a:xfrm>
          <a:prstGeom prst="flowChartOffpageConnec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87900" y="5150275"/>
            <a:ext cx="4800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wendy@coachingwomenofcolor.com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184175" y="7425413"/>
            <a:ext cx="5962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linkedin.com/in/wendyperdomoleadershipcoach/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187900" y="6266825"/>
            <a:ext cx="4158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coachingwomenofcolor.com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75" name="Google Shape;275;p23" title="Guide Framework for Leaders.png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37986" l="13571" r="13109" t="11779"/>
          <a:stretch/>
        </p:blipFill>
        <p:spPr>
          <a:xfrm>
            <a:off x="5551200" y="4794188"/>
            <a:ext cx="1083782" cy="105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title="Guide Framework for Leaders (1).png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38300" l="12049" r="14474" t="11463"/>
          <a:stretch/>
        </p:blipFill>
        <p:spPr>
          <a:xfrm>
            <a:off x="5527224" y="5992000"/>
            <a:ext cx="1083774" cy="1048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title="Guide Framework for Leaders (2).png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27632" l="13111" r="12306" t="21629"/>
          <a:stretch/>
        </p:blipFill>
        <p:spPr>
          <a:xfrm>
            <a:off x="5527225" y="7156606"/>
            <a:ext cx="1107749" cy="10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/>
          <p:nvPr/>
        </p:nvSpPr>
        <p:spPr>
          <a:xfrm rot="-5400000">
            <a:off x="2740013" y="5678988"/>
            <a:ext cx="706175" cy="6178750"/>
          </a:xfrm>
          <a:prstGeom prst="flowChartOffpageConnec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23" title="Guide Framework for Leaders (3).png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26941" l="13267" r="14195" t="20232"/>
          <a:stretch/>
        </p:blipFill>
        <p:spPr>
          <a:xfrm>
            <a:off x="5539200" y="8262850"/>
            <a:ext cx="1034772" cy="10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205475" y="8507825"/>
            <a:ext cx="4158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@coachwendyp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